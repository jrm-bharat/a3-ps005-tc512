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4" d="100"/>
          <a:sy n="154" d="100"/>
        </p:scale>
        <p:origin x="970"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10/15/2026</a:t>
            </a:fld>
            <a:endParaRPr lang="en-US"/>
          </a:p>
        </p:txBody>
      </p:sp>
      <p:sp>
        <p:nvSpPr>
          <p:cNvPr id="6" name="Holder 6"/>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10/15/2026</a:t>
            </a:fld>
            <a:endParaRPr lang="en-US"/>
          </a:p>
        </p:txBody>
      </p:sp>
      <p:sp>
        <p:nvSpPr>
          <p:cNvPr id="6" name="Holder 6"/>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10/15/2026</a:t>
            </a:fld>
            <a:endParaRPr lang="en-US"/>
          </a:p>
        </p:txBody>
      </p:sp>
      <p:sp>
        <p:nvSpPr>
          <p:cNvPr id="7" name="Holder 7"/>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10/15/2026</a:t>
            </a:fld>
            <a:endParaRPr lang="en-US"/>
          </a:p>
        </p:txBody>
      </p:sp>
      <p:sp>
        <p:nvSpPr>
          <p:cNvPr id="5" name="Holder 5"/>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10/15/2026</a:t>
            </a:fld>
            <a:endParaRPr lang="en-US"/>
          </a:p>
        </p:txBody>
      </p:sp>
      <p:sp>
        <p:nvSpPr>
          <p:cNvPr id="4" name="Holder 4"/>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9293" y="198244"/>
            <a:ext cx="1115060" cy="244475"/>
          </a:xfrm>
          <a:prstGeom prst="rect">
            <a:avLst/>
          </a:prstGeom>
        </p:spPr>
        <p:txBody>
          <a:bodyPr wrap="square" lIns="0" tIns="0" rIns="0" bIns="0">
            <a:spAutoFit/>
          </a:bodyPr>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body" idx="1"/>
          </p:nvPr>
        </p:nvSpPr>
        <p:spPr>
          <a:xfrm>
            <a:off x="239293" y="596822"/>
            <a:ext cx="5273675" cy="765175"/>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10/15/2026</a:t>
            </a:fld>
            <a:endParaRPr lang="en-US"/>
          </a:p>
        </p:txBody>
      </p:sp>
      <p:sp>
        <p:nvSpPr>
          <p:cNvPr id="6" name="Holder 6"/>
          <p:cNvSpPr>
            <a:spLocks noGrp="1"/>
          </p:cNvSpPr>
          <p:nvPr>
            <p:ph type="sldNum" sz="quarter" idx="7"/>
          </p:nvPr>
        </p:nvSpPr>
        <p:spPr>
          <a:xfrm>
            <a:off x="5234978" y="3092784"/>
            <a:ext cx="400050" cy="120650"/>
          </a:xfrm>
          <a:prstGeom prst="rect">
            <a:avLst/>
          </a:prstGeom>
        </p:spPr>
        <p:txBody>
          <a:bodyPr wrap="square" lIns="0" tIns="0" rIns="0" bIns="0">
            <a:spAutoFit/>
          </a:bodyPr>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slide" Target="slide1.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10.xml.rels><?xml version="1.0" encoding="UTF-8" standalone="yes"?>
<Relationships xmlns="http://schemas.openxmlformats.org/package/2006/relationships"><Relationship Id="rId3" Type="http://schemas.openxmlformats.org/officeDocument/2006/relationships/hyperlink" Target="https://www.rfc-editor.org/rfc/rfc6811.html" TargetMode="External"/><Relationship Id="rId7" Type="http://schemas.openxmlformats.org/officeDocument/2006/relationships/slide" Target="slide1.xml"/><Relationship Id="rId2" Type="http://schemas.openxmlformats.org/officeDocument/2006/relationships/slide" Target="slide10.xml"/><Relationship Id="rId1" Type="http://schemas.openxmlformats.org/officeDocument/2006/relationships/slideLayout" Target="../slideLayouts/slideLayout2.xml"/><Relationship Id="rId6" Type="http://schemas.openxmlformats.org/officeDocument/2006/relationships/hyperlink" Target="https://doi.org/10.1145/2987443.2987482" TargetMode="External"/><Relationship Id="rId5" Type="http://schemas.openxmlformats.org/officeDocument/2006/relationships/hyperlink" Target="https://doi.org/10.1109/TNET.2018.2869798" TargetMode="External"/><Relationship Id="rId4" Type="http://schemas.openxmlformats.org/officeDocument/2006/relationships/hyperlink" Target="https://www.rfc-editor.org/rfc/rfc9582.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1993" y="252004"/>
            <a:ext cx="508223" cy="503988"/>
          </a:xfrm>
          <a:prstGeom prst="rect">
            <a:avLst/>
          </a:prstGeom>
        </p:spPr>
      </p:pic>
      <p:sp>
        <p:nvSpPr>
          <p:cNvPr id="3" name="object 3" descr="$PPTXTitle"/>
          <p:cNvSpPr txBox="1">
            <a:spLocks noGrp="1"/>
          </p:cNvSpPr>
          <p:nvPr>
            <p:ph type="title"/>
          </p:nvPr>
        </p:nvSpPr>
        <p:spPr>
          <a:xfrm>
            <a:off x="239293" y="1200733"/>
            <a:ext cx="4429125" cy="657225"/>
          </a:xfrm>
          <a:prstGeom prst="rect">
            <a:avLst/>
          </a:prstGeom>
        </p:spPr>
        <p:txBody>
          <a:bodyPr vert="horz" wrap="square" lIns="0" tIns="99695" rIns="0" bIns="0" rtlCol="0">
            <a:spAutoFit/>
          </a:bodyPr>
          <a:lstStyle/>
          <a:p>
            <a:pPr marL="12700">
              <a:lnSpc>
                <a:spcPct val="100000"/>
              </a:lnSpc>
              <a:spcBef>
                <a:spcPts val="785"/>
              </a:spcBef>
            </a:pPr>
            <a:r>
              <a:rPr lang="en-IN" sz="2050" dirty="0"/>
              <a:t>A3-PS005-TC512</a:t>
            </a:r>
            <a:endParaRPr sz="2050" dirty="0"/>
          </a:p>
          <a:p>
            <a:pPr marL="12700">
              <a:lnSpc>
                <a:spcPct val="100000"/>
              </a:lnSpc>
              <a:spcBef>
                <a:spcPts val="385"/>
              </a:spcBef>
            </a:pPr>
            <a:r>
              <a:rPr lang="en-US" sz="1200" b="0" dirty="0">
                <a:solidFill>
                  <a:srgbClr val="000000"/>
                </a:solidFill>
                <a:latin typeface="Century Gothic"/>
                <a:cs typeface="Century Gothic"/>
              </a:rPr>
              <a:t>Explainable BGP Origin and </a:t>
            </a:r>
            <a:r>
              <a:rPr lang="en-US" sz="1200" b="0" dirty="0" err="1">
                <a:solidFill>
                  <a:srgbClr val="000000"/>
                </a:solidFill>
                <a:latin typeface="Century Gothic"/>
                <a:cs typeface="Century Gothic"/>
              </a:rPr>
              <a:t>Subprefix</a:t>
            </a:r>
            <a:r>
              <a:rPr lang="en-US" sz="1200" b="0" dirty="0">
                <a:solidFill>
                  <a:srgbClr val="000000"/>
                </a:solidFill>
                <a:latin typeface="Century Gothic"/>
                <a:cs typeface="Century Gothic"/>
              </a:rPr>
              <a:t> Anomaly</a:t>
            </a:r>
            <a:endParaRPr sz="1200" dirty="0">
              <a:latin typeface="Century Gothic"/>
              <a:cs typeface="Century Gothic"/>
            </a:endParaRPr>
          </a:p>
        </p:txBody>
      </p:sp>
      <p:sp>
        <p:nvSpPr>
          <p:cNvPr id="4" name="object 4"/>
          <p:cNvSpPr txBox="1"/>
          <p:nvPr/>
        </p:nvSpPr>
        <p:spPr>
          <a:xfrm>
            <a:off x="245913" y="2536825"/>
            <a:ext cx="1582420" cy="409727"/>
          </a:xfrm>
          <a:prstGeom prst="rect">
            <a:avLst/>
          </a:prstGeom>
        </p:spPr>
        <p:txBody>
          <a:bodyPr vert="horz" wrap="square" lIns="0" tIns="32384" rIns="0" bIns="0" rtlCol="0">
            <a:spAutoFit/>
          </a:bodyPr>
          <a:lstStyle/>
          <a:p>
            <a:pPr marL="12700">
              <a:lnSpc>
                <a:spcPct val="100000"/>
              </a:lnSpc>
              <a:spcBef>
                <a:spcPts val="254"/>
              </a:spcBef>
            </a:pPr>
            <a:r>
              <a:rPr sz="800" dirty="0">
                <a:latin typeface="Century Gothic"/>
                <a:cs typeface="Century Gothic"/>
              </a:rPr>
              <a:t>AIORI</a:t>
            </a:r>
            <a:r>
              <a:rPr sz="800" spc="50" dirty="0">
                <a:latin typeface="Century Gothic"/>
                <a:cs typeface="Century Gothic"/>
              </a:rPr>
              <a:t> </a:t>
            </a:r>
            <a:r>
              <a:rPr sz="800" spc="-10" dirty="0">
                <a:latin typeface="Century Gothic"/>
                <a:cs typeface="Century Gothic"/>
              </a:rPr>
              <a:t>Hackathon</a:t>
            </a:r>
            <a:r>
              <a:rPr sz="800" spc="55" dirty="0">
                <a:latin typeface="Century Gothic"/>
                <a:cs typeface="Century Gothic"/>
              </a:rPr>
              <a:t> </a:t>
            </a:r>
            <a:r>
              <a:rPr sz="800" spc="-50" dirty="0">
                <a:latin typeface="Century Gothic"/>
                <a:cs typeface="Century Gothic"/>
              </a:rPr>
              <a:t>3</a:t>
            </a:r>
            <a:endParaRPr sz="800" dirty="0">
              <a:latin typeface="Century Gothic"/>
              <a:cs typeface="Century Gothic"/>
            </a:endParaRPr>
          </a:p>
          <a:p>
            <a:pPr marL="12700">
              <a:lnSpc>
                <a:spcPct val="100000"/>
              </a:lnSpc>
              <a:spcBef>
                <a:spcPts val="935"/>
              </a:spcBef>
            </a:pPr>
            <a:r>
              <a:rPr sz="900" spc="-35" dirty="0">
                <a:latin typeface="Century Gothic"/>
                <a:cs typeface="Century Gothic"/>
              </a:rPr>
              <a:t>October</a:t>
            </a:r>
            <a:r>
              <a:rPr sz="900" spc="-10" dirty="0">
                <a:latin typeface="Century Gothic"/>
                <a:cs typeface="Century Gothic"/>
              </a:rPr>
              <a:t> </a:t>
            </a:r>
            <a:r>
              <a:rPr lang="en-IN" sz="900" dirty="0">
                <a:latin typeface="Century Gothic"/>
                <a:cs typeface="Century Gothic"/>
              </a:rPr>
              <a:t>14</a:t>
            </a:r>
            <a:r>
              <a:rPr sz="900" dirty="0">
                <a:latin typeface="Century Gothic"/>
                <a:cs typeface="Century Gothic"/>
              </a:rPr>
              <a:t>,</a:t>
            </a:r>
            <a:r>
              <a:rPr sz="900" spc="-5" dirty="0">
                <a:latin typeface="Century Gothic"/>
                <a:cs typeface="Century Gothic"/>
              </a:rPr>
              <a:t> </a:t>
            </a:r>
            <a:r>
              <a:rPr sz="900" spc="-20" dirty="0">
                <a:latin typeface="Century Gothic"/>
                <a:cs typeface="Century Gothic"/>
              </a:rPr>
              <a:t>2026</a:t>
            </a:r>
            <a:endParaRPr sz="900" dirty="0">
              <a:latin typeface="Century Gothic"/>
              <a:cs typeface="Century Gothic"/>
            </a:endParaRPr>
          </a:p>
        </p:txBody>
      </p:sp>
      <p:graphicFrame>
        <p:nvGraphicFramePr>
          <p:cNvPr id="5" name="Table 4">
            <a:extLst>
              <a:ext uri="{FF2B5EF4-FFF2-40B4-BE49-F238E27FC236}">
                <a16:creationId xmlns:a16="http://schemas.microsoft.com/office/drawing/2014/main" id="{165EA914-73B1-4F49-EBFA-E2AC4C9D6991}"/>
              </a:ext>
            </a:extLst>
          </p:cNvPr>
          <p:cNvGraphicFramePr>
            <a:graphicFrameLocks noGrp="1"/>
          </p:cNvGraphicFramePr>
          <p:nvPr>
            <p:extLst>
              <p:ext uri="{D42A27DB-BD31-4B8C-83A1-F6EECF244321}">
                <p14:modId xmlns:p14="http://schemas.microsoft.com/office/powerpoint/2010/main" val="2183322308"/>
              </p:ext>
            </p:extLst>
          </p:nvPr>
        </p:nvGraphicFramePr>
        <p:xfrm>
          <a:off x="245913" y="2095126"/>
          <a:ext cx="5252720" cy="250825"/>
        </p:xfrm>
        <a:graphic>
          <a:graphicData uri="http://schemas.openxmlformats.org/drawingml/2006/table">
            <a:tbl>
              <a:tblPr firstRow="1" firstCol="1" bandRow="1">
                <a:tableStyleId>{2D5ABB26-0587-4C30-8999-92F81FD0307C}</a:tableStyleId>
              </a:tblPr>
              <a:tblGrid>
                <a:gridCol w="1710690">
                  <a:extLst>
                    <a:ext uri="{9D8B030D-6E8A-4147-A177-3AD203B41FA5}">
                      <a16:colId xmlns:a16="http://schemas.microsoft.com/office/drawing/2014/main" val="98174046"/>
                    </a:ext>
                  </a:extLst>
                </a:gridCol>
                <a:gridCol w="1760919">
                  <a:extLst>
                    <a:ext uri="{9D8B030D-6E8A-4147-A177-3AD203B41FA5}">
                      <a16:colId xmlns:a16="http://schemas.microsoft.com/office/drawing/2014/main" val="279204735"/>
                    </a:ext>
                  </a:extLst>
                </a:gridCol>
                <a:gridCol w="1781111">
                  <a:extLst>
                    <a:ext uri="{9D8B030D-6E8A-4147-A177-3AD203B41FA5}">
                      <a16:colId xmlns:a16="http://schemas.microsoft.com/office/drawing/2014/main" val="267052005"/>
                    </a:ext>
                  </a:extLst>
                </a:gridCol>
              </a:tblGrid>
              <a:tr h="0">
                <a:tc>
                  <a:txBody>
                    <a:bodyPr/>
                    <a:lstStyle/>
                    <a:p>
                      <a:pPr marL="6350" indent="-6350">
                        <a:lnSpc>
                          <a:spcPct val="107000"/>
                        </a:lnSpc>
                        <a:spcAft>
                          <a:spcPts val="40"/>
                        </a:spcAft>
                        <a:buNone/>
                      </a:pPr>
                      <a:r>
                        <a:rPr lang="en-IN" sz="800" b="1" spc="-10" dirty="0" err="1">
                          <a:latin typeface="Century Gothic"/>
                        </a:rPr>
                        <a:t>Mradul</a:t>
                      </a:r>
                      <a:r>
                        <a:rPr lang="en-IN" sz="800" b="1" spc="-10" dirty="0">
                          <a:latin typeface="Century Gothic"/>
                        </a:rPr>
                        <a:t> Gupta</a:t>
                      </a:r>
                    </a:p>
                    <a:p>
                      <a:pPr marL="6350" indent="-6350">
                        <a:lnSpc>
                          <a:spcPct val="107000"/>
                        </a:lnSpc>
                        <a:spcAft>
                          <a:spcPts val="40"/>
                        </a:spcAft>
                        <a:buNone/>
                      </a:pPr>
                      <a:r>
                        <a:rPr lang="en-IN" sz="800" spc="-10" dirty="0">
                          <a:latin typeface="Century Gothic"/>
                        </a:rPr>
                        <a:t>mradul0507@gmail.com</a:t>
                      </a:r>
                    </a:p>
                  </a:txBody>
                  <a:tcPr marL="68580" marR="68580" marT="0" marB="0">
                    <a:lnR w="9525" cap="flat" cmpd="sng" algn="ctr">
                      <a:solidFill>
                        <a:schemeClr val="tx1"/>
                      </a:solidFill>
                      <a:prstDash val="solid"/>
                      <a:round/>
                      <a:headEnd type="none" w="med" len="med"/>
                      <a:tailEnd type="none" w="med" len="med"/>
                    </a:lnR>
                  </a:tcPr>
                </a:tc>
                <a:tc>
                  <a:txBody>
                    <a:bodyPr/>
                    <a:lstStyle/>
                    <a:p>
                      <a:pPr marL="6350" indent="-6350">
                        <a:lnSpc>
                          <a:spcPct val="107000"/>
                        </a:lnSpc>
                        <a:spcAft>
                          <a:spcPts val="40"/>
                        </a:spcAft>
                        <a:buNone/>
                      </a:pPr>
                      <a:r>
                        <a:rPr lang="en-IN" sz="800" b="1" spc="-10" dirty="0">
                          <a:latin typeface="Century Gothic"/>
                        </a:rPr>
                        <a:t>Jyotiranjan Moharana</a:t>
                      </a:r>
                    </a:p>
                    <a:p>
                      <a:pPr marL="6350" indent="-6350">
                        <a:lnSpc>
                          <a:spcPct val="107000"/>
                        </a:lnSpc>
                        <a:spcAft>
                          <a:spcPts val="40"/>
                        </a:spcAft>
                        <a:buNone/>
                      </a:pPr>
                      <a:r>
                        <a:rPr lang="en-IN" sz="800" spc="-10" dirty="0">
                          <a:latin typeface="Century Gothic"/>
                        </a:rPr>
                        <a:t>jr.moharana2340@gmail.com</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tcPr>
                </a:tc>
                <a:tc>
                  <a:txBody>
                    <a:bodyPr/>
                    <a:lstStyle/>
                    <a:p>
                      <a:pPr marL="6350" indent="-6350">
                        <a:lnSpc>
                          <a:spcPct val="107000"/>
                        </a:lnSpc>
                        <a:spcAft>
                          <a:spcPts val="40"/>
                        </a:spcAft>
                        <a:buNone/>
                      </a:pPr>
                      <a:r>
                        <a:rPr lang="en-IN" sz="800" b="1" spc="-10" dirty="0">
                          <a:latin typeface="Century Gothic"/>
                        </a:rPr>
                        <a:t>Jagdeep Kaur</a:t>
                      </a:r>
                    </a:p>
                    <a:p>
                      <a:pPr marL="6350" indent="-6350">
                        <a:lnSpc>
                          <a:spcPct val="107000"/>
                        </a:lnSpc>
                        <a:spcAft>
                          <a:spcPts val="40"/>
                        </a:spcAft>
                        <a:buNone/>
                      </a:pPr>
                      <a:r>
                        <a:rPr lang="en-IN" sz="800" b="0" spc="-10" dirty="0">
                          <a:latin typeface="Century Gothic"/>
                        </a:rPr>
                        <a:t>gahuniajagdeep@gmail.com</a:t>
                      </a:r>
                    </a:p>
                  </a:txBody>
                  <a:tcPr marL="68580" marR="68580" marT="0" marB="0">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26917262"/>
                  </a:ext>
                </a:extLst>
              </a:tr>
            </a:tbl>
          </a:graphicData>
        </a:graphic>
      </p:graphicFrame>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33337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Abstract</a:t>
            </a:r>
            <a:endParaRPr sz="600">
              <a:latin typeface="Century Gothic"/>
              <a:cs typeface="Century Gothic"/>
            </a:endParaRPr>
          </a:p>
        </p:txBody>
      </p:sp>
      <p:sp>
        <p:nvSpPr>
          <p:cNvPr id="4" name="object 4"/>
          <p:cNvSpPr txBox="1"/>
          <p:nvPr/>
        </p:nvSpPr>
        <p:spPr>
          <a:xfrm>
            <a:off x="239293" y="198244"/>
            <a:ext cx="1610360" cy="244475"/>
          </a:xfrm>
          <a:prstGeom prst="rect">
            <a:avLst/>
          </a:prstGeom>
        </p:spPr>
        <p:txBody>
          <a:bodyPr vert="horz" wrap="square" lIns="0" tIns="17145" rIns="0" bIns="0" rtlCol="0">
            <a:spAutoFit/>
          </a:bodyPr>
          <a:lstStyle/>
          <a:p>
            <a:pPr marL="12700">
              <a:lnSpc>
                <a:spcPct val="100000"/>
              </a:lnSpc>
              <a:spcBef>
                <a:spcPts val="135"/>
              </a:spcBef>
            </a:pPr>
            <a:r>
              <a:rPr sz="1400" b="1" spc="-80" dirty="0">
                <a:solidFill>
                  <a:srgbClr val="0000DC"/>
                </a:solidFill>
                <a:latin typeface="Century Gothic"/>
                <a:cs typeface="Century Gothic"/>
              </a:rPr>
              <a:t>Problem</a:t>
            </a:r>
            <a:r>
              <a:rPr sz="1400" b="1" spc="30" dirty="0">
                <a:solidFill>
                  <a:srgbClr val="0000DC"/>
                </a:solidFill>
                <a:latin typeface="Century Gothic"/>
                <a:cs typeface="Century Gothic"/>
              </a:rPr>
              <a:t> </a:t>
            </a:r>
            <a:r>
              <a:rPr sz="1400" b="1" spc="-55" dirty="0">
                <a:solidFill>
                  <a:srgbClr val="0000DC"/>
                </a:solidFill>
                <a:latin typeface="Century Gothic"/>
                <a:cs typeface="Century Gothic"/>
              </a:rPr>
              <a:t>Description</a:t>
            </a:r>
            <a:endParaRPr sz="1400">
              <a:latin typeface="Century Gothic"/>
              <a:cs typeface="Century Gothic"/>
            </a:endParaRPr>
          </a:p>
        </p:txBody>
      </p:sp>
      <p:sp>
        <p:nvSpPr>
          <p:cNvPr id="5" name="object 5"/>
          <p:cNvSpPr txBox="1"/>
          <p:nvPr/>
        </p:nvSpPr>
        <p:spPr>
          <a:xfrm>
            <a:off x="239293" y="708025"/>
            <a:ext cx="5205730" cy="2083904"/>
          </a:xfrm>
          <a:prstGeom prst="rect">
            <a:avLst/>
          </a:prstGeom>
        </p:spPr>
        <p:txBody>
          <a:bodyPr vert="horz" wrap="square" lIns="0" tIns="11430" rIns="0" bIns="0" rtlCol="0">
            <a:spAutoFit/>
          </a:bodyPr>
          <a:lstStyle/>
          <a:p>
            <a:pPr marL="12700" algn="just">
              <a:lnSpc>
                <a:spcPct val="100000"/>
              </a:lnSpc>
              <a:spcBef>
                <a:spcPts val="90"/>
              </a:spcBef>
            </a:pPr>
            <a:r>
              <a:rPr lang="en-US" sz="800" dirty="0">
                <a:latin typeface="Century Gothic"/>
                <a:cs typeface="Century Gothic"/>
              </a:rPr>
              <a:t>BGP (Border Gateway Protocol) enables autonomous systems (</a:t>
            </a:r>
            <a:r>
              <a:rPr lang="en-US" sz="800" dirty="0" err="1">
                <a:latin typeface="Century Gothic"/>
                <a:cs typeface="Century Gothic"/>
              </a:rPr>
              <a:t>ASes</a:t>
            </a:r>
            <a:r>
              <a:rPr lang="en-US" sz="800" dirty="0">
                <a:latin typeface="Century Gothic"/>
                <a:cs typeface="Century Gothic"/>
              </a:rPr>
              <a:t>) to exchange network reachability information. However, incorrect or malicious route announcements can redirect traffic, disrupt connectivity, or expose communications to interception.</a:t>
            </a:r>
          </a:p>
          <a:p>
            <a:pPr marL="12700" algn="just">
              <a:lnSpc>
                <a:spcPct val="100000"/>
              </a:lnSpc>
              <a:spcBef>
                <a:spcPts val="90"/>
              </a:spcBef>
            </a:pPr>
            <a:endParaRPr lang="en-US" sz="800" dirty="0">
              <a:latin typeface="Century Gothic"/>
              <a:cs typeface="Century Gothic"/>
            </a:endParaRPr>
          </a:p>
          <a:p>
            <a:pPr marL="184150" indent="-171450" algn="just">
              <a:lnSpc>
                <a:spcPct val="100000"/>
              </a:lnSpc>
              <a:spcBef>
                <a:spcPts val="90"/>
              </a:spcBef>
              <a:buFont typeface="Arial" panose="020B0604020202020204" pitchFamily="34" charset="0"/>
              <a:buChar char="•"/>
            </a:pPr>
            <a:r>
              <a:rPr lang="en-US" sz="800" b="1" dirty="0">
                <a:latin typeface="Century Gothic"/>
                <a:cs typeface="Century Gothic"/>
              </a:rPr>
              <a:t>Origin hijacking: </a:t>
            </a:r>
            <a:r>
              <a:rPr lang="en-US" sz="800" dirty="0">
                <a:latin typeface="Century Gothic"/>
                <a:cs typeface="Century Gothic"/>
              </a:rPr>
              <a:t>An AS announces a prefix that it is not authorized to originate.</a:t>
            </a:r>
          </a:p>
          <a:p>
            <a:pPr marL="184150" indent="-171450" algn="just">
              <a:lnSpc>
                <a:spcPct val="100000"/>
              </a:lnSpc>
              <a:spcBef>
                <a:spcPts val="90"/>
              </a:spcBef>
              <a:buFont typeface="Arial" panose="020B0604020202020204" pitchFamily="34" charset="0"/>
              <a:buChar char="•"/>
            </a:pPr>
            <a:r>
              <a:rPr lang="en-US" sz="800" b="1" dirty="0" err="1">
                <a:latin typeface="Century Gothic"/>
                <a:cs typeface="Century Gothic"/>
              </a:rPr>
              <a:t>Subprefix</a:t>
            </a:r>
            <a:r>
              <a:rPr lang="en-US" sz="800" b="1" dirty="0">
                <a:latin typeface="Century Gothic"/>
                <a:cs typeface="Century Gothic"/>
              </a:rPr>
              <a:t> anomalies</a:t>
            </a:r>
            <a:r>
              <a:rPr lang="en-US" sz="800" dirty="0">
                <a:latin typeface="Century Gothic"/>
                <a:cs typeface="Century Gothic"/>
              </a:rPr>
              <a:t>: A more-specific prefix is announced unexpectedly, potentially attracting traffic away from the legitimate route.</a:t>
            </a:r>
          </a:p>
          <a:p>
            <a:pPr marL="184150" indent="-171450" algn="just">
              <a:lnSpc>
                <a:spcPct val="100000"/>
              </a:lnSpc>
              <a:spcBef>
                <a:spcPts val="90"/>
              </a:spcBef>
              <a:buFont typeface="Arial" panose="020B0604020202020204" pitchFamily="34" charset="0"/>
              <a:buChar char="•"/>
            </a:pPr>
            <a:r>
              <a:rPr lang="en-US" sz="800" b="1" dirty="0">
                <a:latin typeface="Century Gothic"/>
                <a:cs typeface="Century Gothic"/>
              </a:rPr>
              <a:t>Limited context:</a:t>
            </a:r>
            <a:r>
              <a:rPr lang="en-US" sz="800" dirty="0">
                <a:latin typeface="Century Gothic"/>
                <a:cs typeface="Century Gothic"/>
              </a:rPr>
              <a:t> An unusual announcement may be difficult to distinguish from legitimate routing changes.</a:t>
            </a:r>
          </a:p>
          <a:p>
            <a:pPr marL="184150" indent="-171450" algn="just">
              <a:lnSpc>
                <a:spcPct val="100000"/>
              </a:lnSpc>
              <a:spcBef>
                <a:spcPts val="90"/>
              </a:spcBef>
              <a:buFont typeface="Arial" panose="020B0604020202020204" pitchFamily="34" charset="0"/>
              <a:buChar char="•"/>
            </a:pPr>
            <a:r>
              <a:rPr lang="en-US" sz="800" b="1" dirty="0">
                <a:latin typeface="Century Gothic"/>
                <a:cs typeface="Century Gothic"/>
              </a:rPr>
              <a:t>Fragmented evidence:</a:t>
            </a:r>
            <a:r>
              <a:rPr lang="en-US" sz="800" dirty="0">
                <a:latin typeface="Century Gothic"/>
                <a:cs typeface="Century Gothic"/>
              </a:rPr>
              <a:t> Origin authorization, historical routing </a:t>
            </a:r>
            <a:r>
              <a:rPr lang="en-US" sz="800" dirty="0" err="1">
                <a:latin typeface="Century Gothic"/>
                <a:cs typeface="Century Gothic"/>
              </a:rPr>
              <a:t>behaviour</a:t>
            </a:r>
            <a:r>
              <a:rPr lang="en-US" sz="800" dirty="0">
                <a:latin typeface="Century Gothic"/>
                <a:cs typeface="Century Gothic"/>
              </a:rPr>
              <a:t>, and observations from multiple monitors may need to be examined separately.</a:t>
            </a:r>
          </a:p>
          <a:p>
            <a:pPr marL="184150" indent="-171450" algn="just">
              <a:lnSpc>
                <a:spcPct val="100000"/>
              </a:lnSpc>
              <a:spcBef>
                <a:spcPts val="90"/>
              </a:spcBef>
              <a:buFont typeface="Arial" panose="020B0604020202020204" pitchFamily="34" charset="0"/>
              <a:buChar char="•"/>
            </a:pPr>
            <a:r>
              <a:rPr lang="en-US" sz="800" b="1" dirty="0">
                <a:latin typeface="Century Gothic"/>
                <a:cs typeface="Century Gothic"/>
              </a:rPr>
              <a:t>Alert fatigue: </a:t>
            </a:r>
            <a:r>
              <a:rPr lang="en-US" sz="800" dirty="0">
                <a:latin typeface="Century Gothic"/>
                <a:cs typeface="Century Gothic"/>
              </a:rPr>
              <a:t>Alerts without clear evidence or explanations can increase the burden on network operators.</a:t>
            </a:r>
          </a:p>
          <a:p>
            <a:pPr marL="12700" algn="just">
              <a:lnSpc>
                <a:spcPct val="100000"/>
              </a:lnSpc>
              <a:spcBef>
                <a:spcPts val="90"/>
              </a:spcBef>
            </a:pPr>
            <a:endParaRPr lang="en-US" sz="800" dirty="0">
              <a:latin typeface="Century Gothic"/>
              <a:cs typeface="Century Gothic"/>
            </a:endParaRPr>
          </a:p>
          <a:p>
            <a:pPr marL="12700" algn="just">
              <a:lnSpc>
                <a:spcPct val="100000"/>
              </a:lnSpc>
              <a:spcBef>
                <a:spcPts val="90"/>
              </a:spcBef>
            </a:pPr>
            <a:r>
              <a:rPr lang="en-US" sz="800" dirty="0">
                <a:latin typeface="Century Gothic"/>
                <a:cs typeface="Century Gothic"/>
              </a:rPr>
              <a:t>Problem Statement: Develop a transparent monitoring system that detects suspicious BGP origin and </a:t>
            </a:r>
            <a:r>
              <a:rPr lang="en-US" sz="800" dirty="0" err="1">
                <a:latin typeface="Century Gothic"/>
                <a:cs typeface="Century Gothic"/>
              </a:rPr>
              <a:t>subprefix</a:t>
            </a:r>
            <a:r>
              <a:rPr lang="en-US" sz="800" dirty="0">
                <a:latin typeface="Century Gothic"/>
                <a:cs typeface="Century Gothic"/>
              </a:rPr>
              <a:t> announcements and provides evidence that helps network operators investigate them.</a:t>
            </a: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2</a:t>
            </a:fld>
            <a:r>
              <a:rPr spc="5" dirty="0"/>
              <a:t> </a:t>
            </a:r>
            <a:r>
              <a:rPr dirty="0"/>
              <a:t>/</a:t>
            </a:r>
            <a:r>
              <a:rPr spc="10" dirty="0"/>
              <a:t> </a:t>
            </a:r>
            <a:r>
              <a:rPr spc="-25" dirty="0"/>
              <a:t>11</a:t>
            </a:r>
          </a:p>
        </p:txBody>
      </p:sp>
      <p:sp>
        <p:nvSpPr>
          <p:cNvPr id="9" name="object 6">
            <a:extLst>
              <a:ext uri="{FF2B5EF4-FFF2-40B4-BE49-F238E27FC236}">
                <a16:creationId xmlns:a16="http://schemas.microsoft.com/office/drawing/2014/main" id="{3CEAD411-DA3E-6291-EF55-F72BC6A0F8DB}"/>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3" action="ppaction://hlinksldjump"/>
              </a:rPr>
              <a:t>A3-</a:t>
            </a:r>
            <a:r>
              <a:rPr lang="en-IN" sz="600" b="1" dirty="0">
                <a:solidFill>
                  <a:srgbClr val="0000DC"/>
                </a:solidFill>
                <a:latin typeface="Century Gothic"/>
                <a:cs typeface="Century Gothic"/>
                <a:hlinkClick r:id="rId3"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467359"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Background</a:t>
            </a:r>
            <a:endParaRPr sz="600">
              <a:latin typeface="Century Gothic"/>
              <a:cs typeface="Century Gothic"/>
            </a:endParaRPr>
          </a:p>
        </p:txBody>
      </p:sp>
      <p:sp>
        <p:nvSpPr>
          <p:cNvPr id="4" name="object 4"/>
          <p:cNvSpPr txBox="1"/>
          <p:nvPr/>
        </p:nvSpPr>
        <p:spPr>
          <a:xfrm>
            <a:off x="239293" y="198244"/>
            <a:ext cx="944880" cy="244475"/>
          </a:xfrm>
          <a:prstGeom prst="rect">
            <a:avLst/>
          </a:prstGeom>
        </p:spPr>
        <p:txBody>
          <a:bodyPr vert="horz" wrap="square" lIns="0" tIns="17145" rIns="0" bIns="0" rtlCol="0">
            <a:spAutoFit/>
          </a:bodyPr>
          <a:lstStyle/>
          <a:p>
            <a:pPr marL="12700">
              <a:lnSpc>
                <a:spcPct val="100000"/>
              </a:lnSpc>
              <a:spcBef>
                <a:spcPts val="135"/>
              </a:spcBef>
            </a:pPr>
            <a:r>
              <a:rPr sz="1400" b="1" spc="-110" dirty="0">
                <a:solidFill>
                  <a:srgbClr val="0000DC"/>
                </a:solidFill>
                <a:latin typeface="Century Gothic"/>
                <a:cs typeface="Century Gothic"/>
              </a:rPr>
              <a:t>Background</a:t>
            </a:r>
            <a:endParaRPr sz="1400">
              <a:latin typeface="Century Gothic"/>
              <a:cs typeface="Century Gothic"/>
            </a:endParaRPr>
          </a:p>
        </p:txBody>
      </p:sp>
      <p:sp>
        <p:nvSpPr>
          <p:cNvPr id="5" name="object 5"/>
          <p:cNvSpPr txBox="1"/>
          <p:nvPr/>
        </p:nvSpPr>
        <p:spPr>
          <a:xfrm>
            <a:off x="239293" y="880959"/>
            <a:ext cx="5281295" cy="1736694"/>
          </a:xfrm>
          <a:prstGeom prst="rect">
            <a:avLst/>
          </a:prstGeom>
        </p:spPr>
        <p:txBody>
          <a:bodyPr vert="horz" wrap="square" lIns="0" tIns="6985" rIns="0" bIns="0" rtlCol="0">
            <a:spAutoFit/>
          </a:bodyPr>
          <a:lstStyle/>
          <a:p>
            <a:pPr marL="184150" marR="5080" indent="-171450" algn="just">
              <a:lnSpc>
                <a:spcPct val="102600"/>
              </a:lnSpc>
              <a:spcBef>
                <a:spcPts val="55"/>
              </a:spcBef>
              <a:buFont typeface="Arial" panose="020B0604020202020204" pitchFamily="34" charset="0"/>
              <a:buChar char="•"/>
            </a:pPr>
            <a:r>
              <a:rPr lang="en-US" sz="800" dirty="0">
                <a:latin typeface="Century Gothic"/>
              </a:rPr>
              <a:t>BGP exchanges reachability information between autonomous systems using IP prefixes and AS paths.</a:t>
            </a:r>
          </a:p>
          <a:p>
            <a:pPr marL="184150" marR="5080" indent="-171450" algn="just">
              <a:lnSpc>
                <a:spcPct val="102600"/>
              </a:lnSpc>
              <a:spcBef>
                <a:spcPts val="55"/>
              </a:spcBef>
              <a:buFont typeface="Arial" panose="020B0604020202020204" pitchFamily="34" charset="0"/>
              <a:buChar char="•"/>
            </a:pPr>
            <a:r>
              <a:rPr lang="en-US" sz="800" dirty="0">
                <a:latin typeface="Century Gothic"/>
              </a:rPr>
              <a:t>A prefix identifies an IP address range; a </a:t>
            </a:r>
            <a:r>
              <a:rPr lang="en-US" sz="800" dirty="0" err="1">
                <a:latin typeface="Century Gothic"/>
              </a:rPr>
              <a:t>subprefix</a:t>
            </a:r>
            <a:r>
              <a:rPr lang="en-US" sz="800" dirty="0">
                <a:latin typeface="Century Gothic"/>
              </a:rPr>
              <a:t> is a more-specific range contained within a broader prefix.</a:t>
            </a:r>
          </a:p>
          <a:p>
            <a:pPr marL="184150" marR="5080" indent="-171450" algn="just">
              <a:lnSpc>
                <a:spcPct val="102600"/>
              </a:lnSpc>
              <a:spcBef>
                <a:spcPts val="55"/>
              </a:spcBef>
              <a:buFont typeface="Arial" panose="020B0604020202020204" pitchFamily="34" charset="0"/>
              <a:buChar char="•"/>
            </a:pPr>
            <a:r>
              <a:rPr lang="en-US" sz="800" dirty="0">
                <a:latin typeface="Century Gothic"/>
              </a:rPr>
              <a:t>Route Origin Validation (ROV) uses Resource Public Key Infrastructure (RPKI) and Route Origin Authorizations (ROAs) to assess whether an origin AS is authorized to announce a prefix.</a:t>
            </a:r>
          </a:p>
          <a:p>
            <a:pPr marL="184150" marR="5080" indent="-171450" algn="just">
              <a:lnSpc>
                <a:spcPct val="102600"/>
              </a:lnSpc>
              <a:spcBef>
                <a:spcPts val="55"/>
              </a:spcBef>
              <a:buFont typeface="Arial" panose="020B0604020202020204" pitchFamily="34" charset="0"/>
              <a:buChar char="•"/>
            </a:pPr>
            <a:r>
              <a:rPr lang="en-US" sz="800" dirty="0">
                <a:latin typeface="Century Gothic"/>
              </a:rPr>
              <a:t>ROV classifies a route as Valid, Invalid, or </a:t>
            </a:r>
            <a:r>
              <a:rPr lang="en-US" sz="800" dirty="0" err="1">
                <a:latin typeface="Century Gothic"/>
              </a:rPr>
              <a:t>NotFound</a:t>
            </a:r>
            <a:r>
              <a:rPr lang="en-US" sz="800" dirty="0">
                <a:latin typeface="Century Gothic"/>
              </a:rPr>
              <a:t> according to available authorization data.</a:t>
            </a:r>
          </a:p>
          <a:p>
            <a:pPr marL="184150" marR="5080" indent="-171450" algn="just">
              <a:lnSpc>
                <a:spcPct val="102600"/>
              </a:lnSpc>
              <a:spcBef>
                <a:spcPts val="55"/>
              </a:spcBef>
              <a:buFont typeface="Arial" panose="020B0604020202020204" pitchFamily="34" charset="0"/>
              <a:buChar char="•"/>
            </a:pPr>
            <a:r>
              <a:rPr lang="en-US" sz="800" dirty="0">
                <a:latin typeface="Century Gothic"/>
              </a:rPr>
              <a:t>Historical announcements help identify unexpected origin changes, newly observed </a:t>
            </a:r>
            <a:r>
              <a:rPr lang="en-US" sz="800" dirty="0" err="1">
                <a:latin typeface="Century Gothic"/>
              </a:rPr>
              <a:t>subprefixes</a:t>
            </a:r>
            <a:r>
              <a:rPr lang="en-US" sz="800" dirty="0">
                <a:latin typeface="Century Gothic"/>
              </a:rPr>
              <a:t>, and deviations from established routing patterns.</a:t>
            </a:r>
          </a:p>
          <a:p>
            <a:pPr marL="184150" marR="5080" indent="-171450" algn="just">
              <a:lnSpc>
                <a:spcPct val="102600"/>
              </a:lnSpc>
              <a:spcBef>
                <a:spcPts val="55"/>
              </a:spcBef>
              <a:buFont typeface="Arial" panose="020B0604020202020204" pitchFamily="34" charset="0"/>
              <a:buChar char="•"/>
            </a:pPr>
            <a:r>
              <a:rPr lang="en-US" sz="800" dirty="0">
                <a:latin typeface="Century Gothic"/>
              </a:rPr>
              <a:t>No single signal proves malicious intent. Legitimate routing changes can also appear unusual, and RPKI origin validation does not validate the complete AS path.</a:t>
            </a:r>
          </a:p>
          <a:p>
            <a:pPr marL="12700" marR="5080" algn="just">
              <a:lnSpc>
                <a:spcPct val="102600"/>
              </a:lnSpc>
              <a:spcBef>
                <a:spcPts val="55"/>
              </a:spcBef>
            </a:pPr>
            <a:endParaRPr lang="en-US" sz="800" dirty="0">
              <a:latin typeface="Century Gothic"/>
            </a:endParaRPr>
          </a:p>
          <a:p>
            <a:pPr marL="12700" marR="5080" algn="just">
              <a:lnSpc>
                <a:spcPct val="102600"/>
              </a:lnSpc>
              <a:spcBef>
                <a:spcPts val="55"/>
              </a:spcBef>
            </a:pPr>
            <a:r>
              <a:rPr lang="en-US" sz="800" b="1" dirty="0">
                <a:latin typeface="Century Gothic"/>
              </a:rPr>
              <a:t>Proposed Optimization: </a:t>
            </a:r>
            <a:r>
              <a:rPr lang="en-US" sz="800" dirty="0">
                <a:latin typeface="Century Gothic"/>
              </a:rPr>
              <a:t>Combine origin validation, historical context, and corroborating routing observations in a single explainable detection pipeline.</a:t>
            </a: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3</a:t>
            </a:fld>
            <a:r>
              <a:rPr spc="5" dirty="0"/>
              <a:t> </a:t>
            </a:r>
            <a:r>
              <a:rPr dirty="0"/>
              <a:t>/</a:t>
            </a:r>
            <a:r>
              <a:rPr spc="10" dirty="0"/>
              <a:t> </a:t>
            </a:r>
            <a:r>
              <a:rPr spc="-25" dirty="0"/>
              <a:t>11</a:t>
            </a:r>
          </a:p>
        </p:txBody>
      </p:sp>
      <p:sp>
        <p:nvSpPr>
          <p:cNvPr id="9" name="object 6">
            <a:extLst>
              <a:ext uri="{FF2B5EF4-FFF2-40B4-BE49-F238E27FC236}">
                <a16:creationId xmlns:a16="http://schemas.microsoft.com/office/drawing/2014/main" id="{CFD9F74B-FF13-B79F-EAD2-B9A032AE4D57}"/>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lang="en-IN" sz="600" b="1" dirty="0">
                <a:solidFill>
                  <a:srgbClr val="0000DC"/>
                </a:solidFill>
                <a:latin typeface="Century Gothic"/>
                <a:cs typeface="Century Gothic"/>
                <a:hlinkClick r:id="rId4"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92710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Literature</a:t>
            </a:r>
            <a:r>
              <a:rPr sz="600" b="1" spc="30" dirty="0">
                <a:solidFill>
                  <a:srgbClr val="0000DC"/>
                </a:solidFill>
                <a:latin typeface="Century Gothic"/>
                <a:cs typeface="Century Gothic"/>
                <a:hlinkClick r:id="rId3" action="ppaction://hlinksldjump"/>
              </a:rPr>
              <a:t> </a:t>
            </a:r>
            <a:r>
              <a:rPr sz="600" b="1" spc="114" dirty="0">
                <a:solidFill>
                  <a:srgbClr val="0000DC"/>
                </a:solidFill>
                <a:latin typeface="Century Gothic"/>
                <a:cs typeface="Century Gothic"/>
                <a:hlinkClick r:id="rId3" action="ppaction://hlinksldjump"/>
              </a:rPr>
              <a:t>&amp;</a:t>
            </a:r>
            <a:r>
              <a:rPr sz="600" b="1" spc="3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RFC</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Review</a:t>
            </a:r>
            <a:endParaRPr sz="600">
              <a:latin typeface="Century Gothic"/>
              <a:cs typeface="Century Gothic"/>
            </a:endParaRPr>
          </a:p>
        </p:txBody>
      </p:sp>
      <p:sp>
        <p:nvSpPr>
          <p:cNvPr id="4" name="object 4"/>
          <p:cNvSpPr txBox="1"/>
          <p:nvPr/>
        </p:nvSpPr>
        <p:spPr>
          <a:xfrm>
            <a:off x="239293" y="198244"/>
            <a:ext cx="1936750" cy="244475"/>
          </a:xfrm>
          <a:prstGeom prst="rect">
            <a:avLst/>
          </a:prstGeom>
        </p:spPr>
        <p:txBody>
          <a:bodyPr vert="horz" wrap="square" lIns="0" tIns="17145" rIns="0" bIns="0" rtlCol="0">
            <a:spAutoFit/>
          </a:bodyPr>
          <a:lstStyle/>
          <a:p>
            <a:pPr marL="12700">
              <a:lnSpc>
                <a:spcPct val="100000"/>
              </a:lnSpc>
              <a:spcBef>
                <a:spcPts val="135"/>
              </a:spcBef>
            </a:pPr>
            <a:r>
              <a:rPr sz="1400" b="1" spc="-20" dirty="0">
                <a:solidFill>
                  <a:srgbClr val="0000DC"/>
                </a:solidFill>
                <a:latin typeface="Century Gothic"/>
                <a:cs typeface="Century Gothic"/>
              </a:rPr>
              <a:t>Literature</a:t>
            </a:r>
            <a:r>
              <a:rPr sz="1400" b="1" spc="-30" dirty="0">
                <a:solidFill>
                  <a:srgbClr val="0000DC"/>
                </a:solidFill>
                <a:latin typeface="Century Gothic"/>
                <a:cs typeface="Century Gothic"/>
              </a:rPr>
              <a:t> </a:t>
            </a:r>
            <a:r>
              <a:rPr sz="1400" b="1" spc="204" dirty="0">
                <a:solidFill>
                  <a:srgbClr val="0000DC"/>
                </a:solidFill>
                <a:latin typeface="Century Gothic"/>
                <a:cs typeface="Century Gothic"/>
              </a:rPr>
              <a:t>&amp;</a:t>
            </a:r>
            <a:r>
              <a:rPr sz="1400" b="1" spc="-30" dirty="0">
                <a:solidFill>
                  <a:srgbClr val="0000DC"/>
                </a:solidFill>
                <a:latin typeface="Century Gothic"/>
                <a:cs typeface="Century Gothic"/>
              </a:rPr>
              <a:t> </a:t>
            </a:r>
            <a:r>
              <a:rPr sz="1400" b="1" spc="-70" dirty="0">
                <a:solidFill>
                  <a:srgbClr val="0000DC"/>
                </a:solidFill>
                <a:latin typeface="Century Gothic"/>
                <a:cs typeface="Century Gothic"/>
              </a:rPr>
              <a:t>RFC</a:t>
            </a:r>
            <a:r>
              <a:rPr sz="1400" b="1" spc="-25" dirty="0">
                <a:solidFill>
                  <a:srgbClr val="0000DC"/>
                </a:solidFill>
                <a:latin typeface="Century Gothic"/>
                <a:cs typeface="Century Gothic"/>
              </a:rPr>
              <a:t> </a:t>
            </a:r>
            <a:r>
              <a:rPr sz="1400" b="1" spc="-80" dirty="0">
                <a:solidFill>
                  <a:srgbClr val="0000DC"/>
                </a:solidFill>
                <a:latin typeface="Century Gothic"/>
                <a:cs typeface="Century Gothic"/>
              </a:rPr>
              <a:t>Review</a:t>
            </a:r>
            <a:endParaRPr sz="1400">
              <a:latin typeface="Century Gothic"/>
              <a:cs typeface="Century Gothic"/>
            </a:endParaRPr>
          </a:p>
        </p:txBody>
      </p:sp>
      <p:sp>
        <p:nvSpPr>
          <p:cNvPr id="5" name="object 5"/>
          <p:cNvSpPr txBox="1"/>
          <p:nvPr/>
        </p:nvSpPr>
        <p:spPr>
          <a:xfrm>
            <a:off x="232066" y="547969"/>
            <a:ext cx="5161915" cy="2371675"/>
          </a:xfrm>
          <a:prstGeom prst="rect">
            <a:avLst/>
          </a:prstGeom>
        </p:spPr>
        <p:txBody>
          <a:bodyPr vert="horz" wrap="square" lIns="0" tIns="6985" rIns="0" bIns="0" rtlCol="0">
            <a:spAutoFit/>
          </a:bodyPr>
          <a:lstStyle/>
          <a:p>
            <a:pPr marL="12700" marR="5080" algn="just">
              <a:lnSpc>
                <a:spcPct val="102600"/>
              </a:lnSpc>
              <a:spcBef>
                <a:spcPts val="55"/>
              </a:spcBef>
            </a:pPr>
            <a:r>
              <a:rPr lang="en-US" sz="700" b="1" dirty="0">
                <a:latin typeface="Century Gothic"/>
              </a:rPr>
              <a:t>RFC 6811 — BGP Prefix Origin Validation [1]</a:t>
            </a:r>
          </a:p>
          <a:p>
            <a:pPr marL="12700" marR="5080" algn="just">
              <a:lnSpc>
                <a:spcPct val="102600"/>
              </a:lnSpc>
              <a:spcBef>
                <a:spcPts val="55"/>
              </a:spcBef>
            </a:pPr>
            <a:r>
              <a:rPr lang="en-US" sz="700" dirty="0">
                <a:latin typeface="Century Gothic"/>
              </a:rPr>
              <a:t>Defines a mechanism for validating whether the origin AS of a BGP route is authorized to originate the announced prefix. It establishes the basis for RPKI-based Route Origin Validation but does not validate the complete AS path.</a:t>
            </a:r>
          </a:p>
          <a:p>
            <a:pPr marL="12700" marR="5080" algn="just">
              <a:lnSpc>
                <a:spcPct val="102600"/>
              </a:lnSpc>
              <a:spcBef>
                <a:spcPts val="55"/>
              </a:spcBef>
            </a:pPr>
            <a:endParaRPr lang="en-US" sz="700" dirty="0">
              <a:latin typeface="Century Gothic"/>
            </a:endParaRPr>
          </a:p>
          <a:p>
            <a:pPr marL="12700" marR="5080" algn="just">
              <a:lnSpc>
                <a:spcPct val="102600"/>
              </a:lnSpc>
              <a:spcBef>
                <a:spcPts val="55"/>
              </a:spcBef>
            </a:pPr>
            <a:r>
              <a:rPr lang="en-US" sz="700" b="1" dirty="0">
                <a:latin typeface="Century Gothic"/>
              </a:rPr>
              <a:t>RFC 9582 — A Profile for Route Origin Authorizations (ROAs) [2]</a:t>
            </a:r>
          </a:p>
          <a:p>
            <a:pPr marL="12700" marR="5080" algn="just">
              <a:lnSpc>
                <a:spcPct val="102600"/>
              </a:lnSpc>
              <a:spcBef>
                <a:spcPts val="55"/>
              </a:spcBef>
            </a:pPr>
            <a:r>
              <a:rPr lang="en-US" sz="700" dirty="0">
                <a:latin typeface="Century Gothic"/>
              </a:rPr>
              <a:t>Defines the standard profile for ROAs, which associate address prefixes with authorized origin </a:t>
            </a:r>
            <a:r>
              <a:rPr lang="en-US" sz="700" dirty="0" err="1">
                <a:latin typeface="Century Gothic"/>
              </a:rPr>
              <a:t>ASes</a:t>
            </a:r>
            <a:r>
              <a:rPr lang="en-US" sz="700" dirty="0">
                <a:latin typeface="Century Gothic"/>
              </a:rPr>
              <a:t>. It supersedes RFC 6482 and provides the authorization data used in the proposed validation stage.</a:t>
            </a:r>
          </a:p>
          <a:p>
            <a:pPr marL="12700" marR="5080" algn="just">
              <a:lnSpc>
                <a:spcPct val="102600"/>
              </a:lnSpc>
              <a:spcBef>
                <a:spcPts val="55"/>
              </a:spcBef>
            </a:pPr>
            <a:endParaRPr lang="en-US" sz="700" dirty="0">
              <a:latin typeface="Century Gothic"/>
            </a:endParaRPr>
          </a:p>
          <a:p>
            <a:pPr marL="12700" marR="5080" algn="just">
              <a:lnSpc>
                <a:spcPct val="102600"/>
              </a:lnSpc>
              <a:spcBef>
                <a:spcPts val="55"/>
              </a:spcBef>
            </a:pPr>
            <a:r>
              <a:rPr lang="en-US" sz="700" b="1" dirty="0">
                <a:latin typeface="Century Gothic"/>
              </a:rPr>
              <a:t>ARTEMIS — Real-Time BGP Hijack Detection [3]</a:t>
            </a:r>
          </a:p>
          <a:p>
            <a:pPr marL="12700" marR="5080" algn="just">
              <a:lnSpc>
                <a:spcPct val="102600"/>
              </a:lnSpc>
              <a:spcBef>
                <a:spcPts val="55"/>
              </a:spcBef>
            </a:pPr>
            <a:r>
              <a:rPr lang="en-US" sz="700" dirty="0">
                <a:latin typeface="Century Gothic"/>
              </a:rPr>
              <a:t>ARTEMIS is an existing open-source system for detecting BGP prefix hijacking using routing monitors and operator-defined prefix and origin information. It demonstrates the value of combining monitoring, detection, and operator-facing alerts.</a:t>
            </a:r>
          </a:p>
          <a:p>
            <a:pPr marL="12700" marR="5080" algn="just">
              <a:lnSpc>
                <a:spcPct val="102600"/>
              </a:lnSpc>
              <a:spcBef>
                <a:spcPts val="55"/>
              </a:spcBef>
            </a:pPr>
            <a:endParaRPr lang="en-US" sz="700" dirty="0">
              <a:latin typeface="Century Gothic"/>
            </a:endParaRPr>
          </a:p>
          <a:p>
            <a:pPr marL="12700" marR="5080" algn="just">
              <a:lnSpc>
                <a:spcPct val="102600"/>
              </a:lnSpc>
              <a:spcBef>
                <a:spcPts val="55"/>
              </a:spcBef>
            </a:pPr>
            <a:r>
              <a:rPr lang="en-US" sz="700" b="1" dirty="0">
                <a:latin typeface="Century Gothic"/>
              </a:rPr>
              <a:t>CAIDA </a:t>
            </a:r>
            <a:r>
              <a:rPr lang="en-US" sz="700" b="1" dirty="0" err="1">
                <a:latin typeface="Century Gothic"/>
              </a:rPr>
              <a:t>BGPStream</a:t>
            </a:r>
            <a:r>
              <a:rPr lang="en-US" sz="700" b="1" dirty="0">
                <a:latin typeface="Century Gothic"/>
              </a:rPr>
              <a:t> [4]</a:t>
            </a:r>
          </a:p>
          <a:p>
            <a:pPr marL="12700" marR="5080" algn="just">
              <a:lnSpc>
                <a:spcPct val="102600"/>
              </a:lnSpc>
              <a:spcBef>
                <a:spcPts val="55"/>
              </a:spcBef>
            </a:pPr>
            <a:r>
              <a:rPr lang="en-US" sz="700" dirty="0" err="1">
                <a:latin typeface="Century Gothic"/>
              </a:rPr>
              <a:t>BGPStream</a:t>
            </a:r>
            <a:r>
              <a:rPr lang="en-US" sz="700" dirty="0">
                <a:latin typeface="Century Gothic"/>
              </a:rPr>
              <a:t> provides a framework for accessing and processing BGP monitoring data. It is a suitable candidate for collecting routing observations from supported sources in the proposed prototype.</a:t>
            </a:r>
          </a:p>
          <a:p>
            <a:pPr marL="12700" marR="5080" algn="just">
              <a:lnSpc>
                <a:spcPct val="102600"/>
              </a:lnSpc>
              <a:spcBef>
                <a:spcPts val="55"/>
              </a:spcBef>
            </a:pPr>
            <a:endParaRPr lang="en-US" sz="700" dirty="0">
              <a:latin typeface="Century Gothic"/>
            </a:endParaRPr>
          </a:p>
          <a:p>
            <a:pPr marL="12700" marR="5080" algn="just">
              <a:lnSpc>
                <a:spcPct val="102600"/>
              </a:lnSpc>
              <a:spcBef>
                <a:spcPts val="55"/>
              </a:spcBef>
            </a:pPr>
            <a:r>
              <a:rPr lang="en-US" sz="700" b="1" dirty="0">
                <a:latin typeface="Century Gothic"/>
              </a:rPr>
              <a:t>Research Direction: </a:t>
            </a:r>
            <a:r>
              <a:rPr lang="en-US" sz="700" dirty="0">
                <a:latin typeface="Century Gothic"/>
              </a:rPr>
              <a:t>Build on established BGP monitoring and RPKI mechanisms by presenting each anomaly alongside its validation result, historical context, and supporting observations. The proposed design complements existing systems rather than claiming to replace them.</a:t>
            </a:r>
            <a:endParaRPr lang="en-IN" sz="700" dirty="0">
              <a:latin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4</a:t>
            </a:fld>
            <a:r>
              <a:rPr spc="5" dirty="0"/>
              <a:t> </a:t>
            </a:r>
            <a:r>
              <a:rPr dirty="0"/>
              <a:t>/</a:t>
            </a:r>
            <a:r>
              <a:rPr spc="10" dirty="0"/>
              <a:t> </a:t>
            </a:r>
            <a:r>
              <a:rPr spc="-25" dirty="0"/>
              <a:t>11</a:t>
            </a:r>
          </a:p>
        </p:txBody>
      </p:sp>
      <p:sp>
        <p:nvSpPr>
          <p:cNvPr id="11" name="object 6">
            <a:extLst>
              <a:ext uri="{FF2B5EF4-FFF2-40B4-BE49-F238E27FC236}">
                <a16:creationId xmlns:a16="http://schemas.microsoft.com/office/drawing/2014/main" id="{45B407F2-BC49-E21E-B545-F76DD66DF657}"/>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lang="en-IN" sz="600" b="1" dirty="0">
                <a:solidFill>
                  <a:srgbClr val="0000DC"/>
                </a:solidFill>
                <a:latin typeface="Century Gothic"/>
                <a:cs typeface="Century Gothic"/>
                <a:hlinkClick r:id="rId4"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70675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Proposed</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Solution</a:t>
            </a:r>
            <a:endParaRPr sz="600">
              <a:latin typeface="Century Gothic"/>
              <a:cs typeface="Century Gothic"/>
            </a:endParaRPr>
          </a:p>
        </p:txBody>
      </p:sp>
      <p:sp>
        <p:nvSpPr>
          <p:cNvPr id="4" name="object 4"/>
          <p:cNvSpPr txBox="1"/>
          <p:nvPr/>
        </p:nvSpPr>
        <p:spPr>
          <a:xfrm>
            <a:off x="239293" y="198244"/>
            <a:ext cx="1452245" cy="244475"/>
          </a:xfrm>
          <a:prstGeom prst="rect">
            <a:avLst/>
          </a:prstGeom>
        </p:spPr>
        <p:txBody>
          <a:bodyPr vert="horz" wrap="square" lIns="0" tIns="17145" rIns="0" bIns="0" rtlCol="0">
            <a:spAutoFit/>
          </a:bodyPr>
          <a:lstStyle/>
          <a:p>
            <a:pPr marL="12700">
              <a:lnSpc>
                <a:spcPct val="100000"/>
              </a:lnSpc>
              <a:spcBef>
                <a:spcPts val="135"/>
              </a:spcBef>
            </a:pPr>
            <a:r>
              <a:rPr sz="1400" b="1" spc="-100" dirty="0">
                <a:solidFill>
                  <a:srgbClr val="0000DC"/>
                </a:solidFill>
                <a:latin typeface="Century Gothic"/>
                <a:cs typeface="Century Gothic"/>
              </a:rPr>
              <a:t>Proposed</a:t>
            </a:r>
            <a:r>
              <a:rPr sz="1400" b="1" spc="25" dirty="0">
                <a:solidFill>
                  <a:srgbClr val="0000DC"/>
                </a:solidFill>
                <a:latin typeface="Century Gothic"/>
                <a:cs typeface="Century Gothic"/>
              </a:rPr>
              <a:t> </a:t>
            </a:r>
            <a:r>
              <a:rPr sz="1400" b="1" spc="-10" dirty="0">
                <a:solidFill>
                  <a:srgbClr val="0000DC"/>
                </a:solidFill>
                <a:latin typeface="Century Gothic"/>
                <a:cs typeface="Century Gothic"/>
              </a:rPr>
              <a:t>Solution</a:t>
            </a:r>
            <a:endParaRPr sz="1400">
              <a:latin typeface="Century Gothic"/>
              <a:cs typeface="Century Gothic"/>
            </a:endParaRPr>
          </a:p>
        </p:txBody>
      </p:sp>
      <p:sp>
        <p:nvSpPr>
          <p:cNvPr id="5" name="object 5"/>
          <p:cNvSpPr txBox="1"/>
          <p:nvPr/>
        </p:nvSpPr>
        <p:spPr>
          <a:xfrm>
            <a:off x="236209" y="716214"/>
            <a:ext cx="5075555" cy="529632"/>
          </a:xfrm>
          <a:prstGeom prst="rect">
            <a:avLst/>
          </a:prstGeom>
        </p:spPr>
        <p:txBody>
          <a:bodyPr vert="horz" wrap="square" lIns="0" tIns="11430" rIns="0" bIns="0" rtlCol="0">
            <a:spAutoFit/>
          </a:bodyPr>
          <a:lstStyle/>
          <a:p>
            <a:pPr marL="12700">
              <a:lnSpc>
                <a:spcPct val="100000"/>
              </a:lnSpc>
              <a:spcBef>
                <a:spcPts val="90"/>
              </a:spcBef>
            </a:pPr>
            <a:r>
              <a:rPr lang="en-IN" sz="800" b="1" dirty="0">
                <a:latin typeface="Century Gothic"/>
              </a:rPr>
              <a:t>Explainable BGP Origin and </a:t>
            </a:r>
            <a:r>
              <a:rPr lang="en-IN" sz="800" b="1" dirty="0" err="1">
                <a:latin typeface="Century Gothic"/>
              </a:rPr>
              <a:t>Subprefix</a:t>
            </a:r>
            <a:r>
              <a:rPr lang="en-IN" sz="800" b="1" dirty="0">
                <a:latin typeface="Century Gothic"/>
              </a:rPr>
              <a:t> Anomaly Detection</a:t>
            </a:r>
          </a:p>
          <a:p>
            <a:pPr marL="12700">
              <a:lnSpc>
                <a:spcPct val="100000"/>
              </a:lnSpc>
              <a:spcBef>
                <a:spcPts val="90"/>
              </a:spcBef>
            </a:pPr>
            <a:endParaRPr lang="en-IN" sz="800" dirty="0">
              <a:latin typeface="Century Gothic"/>
            </a:endParaRPr>
          </a:p>
          <a:p>
            <a:pPr marL="12700">
              <a:lnSpc>
                <a:spcPct val="100000"/>
              </a:lnSpc>
              <a:spcBef>
                <a:spcPts val="90"/>
              </a:spcBef>
            </a:pPr>
            <a:r>
              <a:rPr lang="en-IN" sz="800" dirty="0">
                <a:latin typeface="Century Gothic"/>
              </a:rPr>
              <a:t>The proposed system combines BGP observations, RPKI origin validation, prefix history, and transparent detection rules to identify suspicious announcements and provide actionable explanations.</a:t>
            </a:r>
            <a:endParaRPr sz="800" dirty="0">
              <a:latin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5</a:t>
            </a:fld>
            <a:r>
              <a:rPr spc="5" dirty="0"/>
              <a:t> </a:t>
            </a:r>
            <a:r>
              <a:rPr dirty="0"/>
              <a:t>/</a:t>
            </a:r>
            <a:r>
              <a:rPr spc="10" dirty="0"/>
              <a:t> </a:t>
            </a:r>
            <a:r>
              <a:rPr spc="-25" dirty="0"/>
              <a:t>11</a:t>
            </a:r>
          </a:p>
        </p:txBody>
      </p:sp>
      <p:sp>
        <p:nvSpPr>
          <p:cNvPr id="9" name="object 6">
            <a:extLst>
              <a:ext uri="{FF2B5EF4-FFF2-40B4-BE49-F238E27FC236}">
                <a16:creationId xmlns:a16="http://schemas.microsoft.com/office/drawing/2014/main" id="{3F60C231-5652-A40A-67EA-4E259AF85C43}"/>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lang="en-IN" sz="600" b="1" dirty="0">
                <a:solidFill>
                  <a:srgbClr val="0000DC"/>
                </a:solidFill>
                <a:latin typeface="Century Gothic"/>
                <a:cs typeface="Century Gothic"/>
                <a:hlinkClick r:id="rId4"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sp>
        <p:nvSpPr>
          <p:cNvPr id="10" name="Rectangle: Rounded Corners 9">
            <a:extLst>
              <a:ext uri="{FF2B5EF4-FFF2-40B4-BE49-F238E27FC236}">
                <a16:creationId xmlns:a16="http://schemas.microsoft.com/office/drawing/2014/main" id="{21801C78-D5D0-B7F6-F79F-40043D483344}"/>
              </a:ext>
            </a:extLst>
          </p:cNvPr>
          <p:cNvSpPr/>
          <p:nvPr/>
        </p:nvSpPr>
        <p:spPr>
          <a:xfrm>
            <a:off x="236209" y="1393826"/>
            <a:ext cx="2576815" cy="1447799"/>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500" dirty="0">
                <a:solidFill>
                  <a:schemeClr val="tx1"/>
                </a:solidFill>
                <a:latin typeface="Century Gothic"/>
              </a:rPr>
              <a:t>1. BGP Data Ingestion</a:t>
            </a:r>
          </a:p>
          <a:p>
            <a:pPr marL="88900" indent="-88900" algn="just">
              <a:buFont typeface="Arial" panose="020B0604020202020204" pitchFamily="34" charset="0"/>
              <a:buChar char="•"/>
            </a:pPr>
            <a:r>
              <a:rPr lang="en-US" sz="500" dirty="0">
                <a:solidFill>
                  <a:schemeClr val="tx1"/>
                </a:solidFill>
                <a:latin typeface="Century Gothic"/>
              </a:rPr>
              <a:t>Collect routing observations from RIPE RIS and </a:t>
            </a:r>
            <a:r>
              <a:rPr lang="en-US" sz="500" dirty="0" err="1">
                <a:solidFill>
                  <a:schemeClr val="tx1"/>
                </a:solidFill>
                <a:latin typeface="Century Gothic"/>
              </a:rPr>
              <a:t>RouteViews</a:t>
            </a:r>
            <a:r>
              <a:rPr lang="en-US" sz="500" dirty="0">
                <a:solidFill>
                  <a:schemeClr val="tx1"/>
                </a:solidFill>
                <a:latin typeface="Century Gothic"/>
              </a:rPr>
              <a:t> using </a:t>
            </a:r>
            <a:r>
              <a:rPr lang="en-US" sz="500" dirty="0" err="1">
                <a:solidFill>
                  <a:schemeClr val="tx1"/>
                </a:solidFill>
                <a:latin typeface="Century Gothic"/>
              </a:rPr>
              <a:t>BGPStream</a:t>
            </a:r>
            <a:r>
              <a:rPr lang="en-US" sz="500" dirty="0">
                <a:solidFill>
                  <a:schemeClr val="tx1"/>
                </a:solidFill>
                <a:latin typeface="Century Gothic"/>
              </a:rPr>
              <a:t>-compatible interfaces.</a:t>
            </a:r>
          </a:p>
          <a:p>
            <a:pPr marL="88900" indent="-88900" algn="just">
              <a:buFont typeface="Arial" panose="020B0604020202020204" pitchFamily="34" charset="0"/>
              <a:buChar char="•"/>
            </a:pPr>
            <a:r>
              <a:rPr lang="en-US" sz="500" dirty="0">
                <a:solidFill>
                  <a:schemeClr val="tx1"/>
                </a:solidFill>
                <a:latin typeface="Century Gothic"/>
              </a:rPr>
              <a:t>Extract prefix, origin AS, AS_PATH, timestamp, and monitor information.</a:t>
            </a:r>
          </a:p>
          <a:p>
            <a:pPr algn="just"/>
            <a:endParaRPr lang="en-US" sz="500" dirty="0">
              <a:solidFill>
                <a:schemeClr val="tx1"/>
              </a:solidFill>
              <a:latin typeface="Century Gothic"/>
            </a:endParaRPr>
          </a:p>
          <a:p>
            <a:pPr algn="just"/>
            <a:r>
              <a:rPr lang="en-US" sz="500" dirty="0">
                <a:solidFill>
                  <a:schemeClr val="tx1"/>
                </a:solidFill>
                <a:latin typeface="Century Gothic"/>
              </a:rPr>
              <a:t>2. Data Normalization</a:t>
            </a:r>
          </a:p>
          <a:p>
            <a:pPr marL="88900" indent="-88900" algn="just">
              <a:buFont typeface="Arial" panose="020B0604020202020204" pitchFamily="34" charset="0"/>
              <a:buChar char="•"/>
            </a:pPr>
            <a:r>
              <a:rPr lang="en-US" sz="500" dirty="0">
                <a:solidFill>
                  <a:schemeClr val="tx1"/>
                </a:solidFill>
                <a:latin typeface="Century Gothic"/>
              </a:rPr>
              <a:t>Standardize route records and remove duplicate observations where appropriate.</a:t>
            </a:r>
          </a:p>
          <a:p>
            <a:pPr marL="88900" indent="-88900" algn="just">
              <a:buFont typeface="Arial" panose="020B0604020202020204" pitchFamily="34" charset="0"/>
              <a:buChar char="•"/>
            </a:pPr>
            <a:r>
              <a:rPr lang="en-US" sz="500" dirty="0">
                <a:solidFill>
                  <a:schemeClr val="tx1"/>
                </a:solidFill>
                <a:latin typeface="Century Gothic"/>
              </a:rPr>
              <a:t>Maintain a consistent representation of prefixes and origin </a:t>
            </a:r>
            <a:r>
              <a:rPr lang="en-US" sz="500" dirty="0" err="1">
                <a:solidFill>
                  <a:schemeClr val="tx1"/>
                </a:solidFill>
                <a:latin typeface="Century Gothic"/>
              </a:rPr>
              <a:t>ASes</a:t>
            </a:r>
            <a:r>
              <a:rPr lang="en-US" sz="500" dirty="0">
                <a:solidFill>
                  <a:schemeClr val="tx1"/>
                </a:solidFill>
                <a:latin typeface="Century Gothic"/>
              </a:rPr>
              <a:t>.</a:t>
            </a:r>
          </a:p>
          <a:p>
            <a:pPr algn="just"/>
            <a:endParaRPr lang="en-US" sz="500" dirty="0">
              <a:solidFill>
                <a:schemeClr val="tx1"/>
              </a:solidFill>
              <a:latin typeface="Century Gothic"/>
            </a:endParaRPr>
          </a:p>
          <a:p>
            <a:pPr algn="just"/>
            <a:r>
              <a:rPr lang="en-US" sz="500" dirty="0">
                <a:solidFill>
                  <a:schemeClr val="tx1"/>
                </a:solidFill>
                <a:latin typeface="Century Gothic"/>
              </a:rPr>
              <a:t>3. Context Enrichment</a:t>
            </a:r>
          </a:p>
          <a:p>
            <a:pPr marL="88900" indent="-88900" algn="just">
              <a:buFont typeface="Arial" panose="020B0604020202020204" pitchFamily="34" charset="0"/>
              <a:buChar char="•"/>
            </a:pPr>
            <a:r>
              <a:rPr lang="en-US" sz="500" dirty="0">
                <a:solidFill>
                  <a:schemeClr val="tx1"/>
                </a:solidFill>
                <a:latin typeface="Century Gothic"/>
              </a:rPr>
              <a:t>Validate prefix-origin relationships against available RPKI/ROA data.</a:t>
            </a:r>
          </a:p>
          <a:p>
            <a:pPr marL="88900" indent="-88900" algn="just">
              <a:buFont typeface="Arial" panose="020B0604020202020204" pitchFamily="34" charset="0"/>
              <a:buChar char="•"/>
            </a:pPr>
            <a:r>
              <a:rPr lang="en-US" sz="500" dirty="0">
                <a:solidFill>
                  <a:schemeClr val="tx1"/>
                </a:solidFill>
                <a:latin typeface="Century Gothic"/>
              </a:rPr>
              <a:t>Retrieve historical origins and previously observed announcements.</a:t>
            </a:r>
          </a:p>
          <a:p>
            <a:pPr marL="88900" indent="-88900" algn="just">
              <a:buFont typeface="Arial" panose="020B0604020202020204" pitchFamily="34" charset="0"/>
              <a:buChar char="•"/>
            </a:pPr>
            <a:r>
              <a:rPr lang="en-US" sz="500" dirty="0">
                <a:solidFill>
                  <a:schemeClr val="tx1"/>
                </a:solidFill>
                <a:latin typeface="Century Gothic"/>
              </a:rPr>
              <a:t>Compare announcements across available monitoring sources.</a:t>
            </a:r>
          </a:p>
          <a:p>
            <a:pPr algn="just"/>
            <a:endParaRPr lang="en-IN" sz="500" dirty="0">
              <a:solidFill>
                <a:schemeClr val="tx1"/>
              </a:solidFill>
              <a:latin typeface="Century Gothic"/>
            </a:endParaRPr>
          </a:p>
        </p:txBody>
      </p:sp>
      <p:sp>
        <p:nvSpPr>
          <p:cNvPr id="11" name="Rectangle: Rounded Corners 10">
            <a:extLst>
              <a:ext uri="{FF2B5EF4-FFF2-40B4-BE49-F238E27FC236}">
                <a16:creationId xmlns:a16="http://schemas.microsoft.com/office/drawing/2014/main" id="{EA633C60-D00F-F0E9-5242-005D49C4DC1E}"/>
              </a:ext>
            </a:extLst>
          </p:cNvPr>
          <p:cNvSpPr/>
          <p:nvPr/>
        </p:nvSpPr>
        <p:spPr>
          <a:xfrm>
            <a:off x="2947016" y="1391203"/>
            <a:ext cx="2576815" cy="1447799"/>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500" dirty="0">
                <a:solidFill>
                  <a:schemeClr val="tx1"/>
                </a:solidFill>
                <a:latin typeface="Century Gothic"/>
              </a:rPr>
              <a:t>4. Anomaly Detection</a:t>
            </a:r>
          </a:p>
          <a:p>
            <a:pPr marL="88900" indent="-88900" algn="just">
              <a:buFont typeface="Arial" panose="020B0604020202020204" pitchFamily="34" charset="0"/>
              <a:buChar char="•"/>
            </a:pPr>
            <a:r>
              <a:rPr lang="en-US" sz="500" dirty="0">
                <a:solidFill>
                  <a:schemeClr val="tx1"/>
                </a:solidFill>
                <a:latin typeface="Century Gothic"/>
              </a:rPr>
              <a:t>Flag RPKI-invalid origin announcements.</a:t>
            </a:r>
          </a:p>
          <a:p>
            <a:pPr marL="88900" indent="-88900" algn="just">
              <a:buFont typeface="Arial" panose="020B0604020202020204" pitchFamily="34" charset="0"/>
              <a:buChar char="•"/>
            </a:pPr>
            <a:r>
              <a:rPr lang="en-US" sz="500" dirty="0">
                <a:solidFill>
                  <a:schemeClr val="tx1"/>
                </a:solidFill>
                <a:latin typeface="Century Gothic"/>
              </a:rPr>
              <a:t>Detect unexpected origin-AS changes.</a:t>
            </a:r>
          </a:p>
          <a:p>
            <a:pPr marL="88900" indent="-88900" algn="just">
              <a:buFont typeface="Arial" panose="020B0604020202020204" pitchFamily="34" charset="0"/>
              <a:buChar char="•"/>
            </a:pPr>
            <a:r>
              <a:rPr lang="en-US" sz="500" dirty="0">
                <a:solidFill>
                  <a:schemeClr val="tx1"/>
                </a:solidFill>
                <a:latin typeface="Century Gothic"/>
              </a:rPr>
              <a:t>Identify newly observed or suspicious more-specific prefixes.</a:t>
            </a:r>
          </a:p>
          <a:p>
            <a:pPr marL="88900" indent="-88900" algn="just">
              <a:buFont typeface="Arial" panose="020B0604020202020204" pitchFamily="34" charset="0"/>
              <a:buChar char="•"/>
            </a:pPr>
            <a:r>
              <a:rPr lang="en-US" sz="500" dirty="0">
                <a:solidFill>
                  <a:schemeClr val="tx1"/>
                </a:solidFill>
                <a:latin typeface="Century Gothic"/>
              </a:rPr>
              <a:t>Evaluate whether multiple monitors corroborate the observation.</a:t>
            </a:r>
          </a:p>
          <a:p>
            <a:pPr algn="just"/>
            <a:endParaRPr lang="en-US" sz="500" dirty="0">
              <a:solidFill>
                <a:schemeClr val="tx1"/>
              </a:solidFill>
              <a:latin typeface="Century Gothic"/>
            </a:endParaRPr>
          </a:p>
          <a:p>
            <a:pPr algn="just"/>
            <a:r>
              <a:rPr lang="en-US" sz="500" dirty="0">
                <a:solidFill>
                  <a:schemeClr val="tx1"/>
                </a:solidFill>
                <a:latin typeface="Century Gothic"/>
              </a:rPr>
              <a:t>5. Explainable Alert Generation</a:t>
            </a:r>
          </a:p>
          <a:p>
            <a:pPr marL="88900" indent="-88900" algn="just">
              <a:buFont typeface="Arial" panose="020B0604020202020204" pitchFamily="34" charset="0"/>
              <a:buChar char="•"/>
            </a:pPr>
            <a:r>
              <a:rPr lang="en-US" sz="500" dirty="0">
                <a:solidFill>
                  <a:schemeClr val="tx1"/>
                </a:solidFill>
                <a:latin typeface="Century Gothic"/>
              </a:rPr>
              <a:t>Record the triggering rule, affected prefix, observed origin AS, validation state, historical comparison, and supporting observations.</a:t>
            </a:r>
          </a:p>
          <a:p>
            <a:pPr marL="88900" indent="-88900" algn="just">
              <a:buFont typeface="Arial" panose="020B0604020202020204" pitchFamily="34" charset="0"/>
              <a:buChar char="•"/>
            </a:pPr>
            <a:r>
              <a:rPr lang="en-US" sz="500" dirty="0">
                <a:solidFill>
                  <a:schemeClr val="tx1"/>
                </a:solidFill>
                <a:latin typeface="Century Gothic"/>
              </a:rPr>
              <a:t>Present the evidence through an operator dashboard.</a:t>
            </a:r>
          </a:p>
          <a:p>
            <a:pPr algn="just"/>
            <a:endParaRPr lang="en-US" sz="500" dirty="0">
              <a:solidFill>
                <a:schemeClr val="tx1"/>
              </a:solidFill>
              <a:latin typeface="Century Gothic"/>
            </a:endParaRPr>
          </a:p>
          <a:p>
            <a:pPr algn="just"/>
            <a:r>
              <a:rPr lang="en-US" sz="500" dirty="0">
                <a:solidFill>
                  <a:schemeClr val="tx1"/>
                </a:solidFill>
                <a:latin typeface="Century Gothic"/>
              </a:rPr>
              <a:t>6. Operator Review</a:t>
            </a:r>
          </a:p>
          <a:p>
            <a:pPr marL="88900" indent="-88900" algn="just">
              <a:buFont typeface="Arial" panose="020B0604020202020204" pitchFamily="34" charset="0"/>
              <a:buChar char="•"/>
            </a:pPr>
            <a:r>
              <a:rPr lang="en-US" sz="500" dirty="0">
                <a:solidFill>
                  <a:schemeClr val="tx1"/>
                </a:solidFill>
                <a:latin typeface="Century Gothic"/>
              </a:rPr>
              <a:t>Allow analysts to inspect, acknowledge, investigate, and classify alerts.</a:t>
            </a:r>
          </a:p>
          <a:p>
            <a:pPr marL="88900" indent="-88900" algn="just">
              <a:buFont typeface="Arial" panose="020B0604020202020204" pitchFamily="34" charset="0"/>
              <a:buChar char="•"/>
            </a:pPr>
            <a:r>
              <a:rPr lang="en-US" sz="500" dirty="0">
                <a:solidFill>
                  <a:schemeClr val="tx1"/>
                </a:solidFill>
                <a:latin typeface="Century Gothic"/>
              </a:rPr>
              <a:t>Keep mitigation decisions under operator control.</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4772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Solution</a:t>
            </a:r>
            <a:r>
              <a:rPr sz="600" b="1" spc="9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Optimization</a:t>
            </a:r>
            <a:endParaRPr sz="600">
              <a:latin typeface="Century Gothic"/>
              <a:cs typeface="Century Gothic"/>
            </a:endParaRPr>
          </a:p>
        </p:txBody>
      </p:sp>
      <p:sp>
        <p:nvSpPr>
          <p:cNvPr id="4" name="object 4"/>
          <p:cNvSpPr txBox="1"/>
          <p:nvPr/>
        </p:nvSpPr>
        <p:spPr>
          <a:xfrm>
            <a:off x="239293" y="198244"/>
            <a:ext cx="1808480" cy="244475"/>
          </a:xfrm>
          <a:prstGeom prst="rect">
            <a:avLst/>
          </a:prstGeom>
        </p:spPr>
        <p:txBody>
          <a:bodyPr vert="horz" wrap="square" lIns="0" tIns="17145" rIns="0" bIns="0" rtlCol="0">
            <a:spAutoFit/>
          </a:bodyPr>
          <a:lstStyle/>
          <a:p>
            <a:pPr marL="12700">
              <a:lnSpc>
                <a:spcPct val="100000"/>
              </a:lnSpc>
              <a:spcBef>
                <a:spcPts val="135"/>
              </a:spcBef>
            </a:pPr>
            <a:r>
              <a:rPr sz="1400" b="1" spc="-60" dirty="0">
                <a:solidFill>
                  <a:srgbClr val="0000DC"/>
                </a:solidFill>
                <a:latin typeface="Century Gothic"/>
                <a:cs typeface="Century Gothic"/>
              </a:rPr>
              <a:t>Optimization</a:t>
            </a:r>
            <a:r>
              <a:rPr sz="1400" b="1" dirty="0">
                <a:solidFill>
                  <a:srgbClr val="0000DC"/>
                </a:solidFill>
                <a:latin typeface="Century Gothic"/>
                <a:cs typeface="Century Gothic"/>
              </a:rPr>
              <a:t> </a:t>
            </a:r>
            <a:r>
              <a:rPr sz="1400" b="1" spc="-80" dirty="0">
                <a:solidFill>
                  <a:srgbClr val="0000DC"/>
                </a:solidFill>
                <a:latin typeface="Century Gothic"/>
                <a:cs typeface="Century Gothic"/>
              </a:rPr>
              <a:t>Proposed</a:t>
            </a:r>
            <a:endParaRPr sz="14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6</a:t>
            </a:fld>
            <a:r>
              <a:rPr spc="5" dirty="0"/>
              <a:t> </a:t>
            </a:r>
            <a:r>
              <a:rPr dirty="0"/>
              <a:t>/</a:t>
            </a:r>
            <a:r>
              <a:rPr spc="10" dirty="0"/>
              <a:t> </a:t>
            </a:r>
            <a:r>
              <a:rPr spc="-25" dirty="0"/>
              <a:t>11</a:t>
            </a:r>
          </a:p>
        </p:txBody>
      </p:sp>
      <p:sp>
        <p:nvSpPr>
          <p:cNvPr id="9" name="object 6">
            <a:extLst>
              <a:ext uri="{FF2B5EF4-FFF2-40B4-BE49-F238E27FC236}">
                <a16:creationId xmlns:a16="http://schemas.microsoft.com/office/drawing/2014/main" id="{1775911E-22D5-8E3B-9BE3-B39EAD0402AE}"/>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lang="en-IN" sz="600" b="1" dirty="0">
                <a:solidFill>
                  <a:srgbClr val="0000DC"/>
                </a:solidFill>
                <a:latin typeface="Century Gothic"/>
                <a:cs typeface="Century Gothic"/>
                <a:hlinkClick r:id="rId4"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graphicFrame>
        <p:nvGraphicFramePr>
          <p:cNvPr id="10" name="Table 9">
            <a:extLst>
              <a:ext uri="{FF2B5EF4-FFF2-40B4-BE49-F238E27FC236}">
                <a16:creationId xmlns:a16="http://schemas.microsoft.com/office/drawing/2014/main" id="{968E4920-29A6-5BEF-FEFA-F51D1293DB7C}"/>
              </a:ext>
            </a:extLst>
          </p:cNvPr>
          <p:cNvGraphicFramePr>
            <a:graphicFrameLocks noGrp="1"/>
          </p:cNvGraphicFramePr>
          <p:nvPr>
            <p:extLst>
              <p:ext uri="{D42A27DB-BD31-4B8C-83A1-F6EECF244321}">
                <p14:modId xmlns:p14="http://schemas.microsoft.com/office/powerpoint/2010/main" val="3219575249"/>
              </p:ext>
            </p:extLst>
          </p:nvPr>
        </p:nvGraphicFramePr>
        <p:xfrm>
          <a:off x="1968501" y="631825"/>
          <a:ext cx="3553589" cy="2103120"/>
        </p:xfrm>
        <a:graphic>
          <a:graphicData uri="http://schemas.openxmlformats.org/drawingml/2006/table">
            <a:tbl>
              <a:tblPr>
                <a:tableStyleId>{5940675A-B579-460E-94D1-54222C63F5DA}</a:tableStyleId>
              </a:tblPr>
              <a:tblGrid>
                <a:gridCol w="677177">
                  <a:extLst>
                    <a:ext uri="{9D8B030D-6E8A-4147-A177-3AD203B41FA5}">
                      <a16:colId xmlns:a16="http://schemas.microsoft.com/office/drawing/2014/main" val="3565894896"/>
                    </a:ext>
                  </a:extLst>
                </a:gridCol>
                <a:gridCol w="1333763">
                  <a:extLst>
                    <a:ext uri="{9D8B030D-6E8A-4147-A177-3AD203B41FA5}">
                      <a16:colId xmlns:a16="http://schemas.microsoft.com/office/drawing/2014/main" val="1510143359"/>
                    </a:ext>
                  </a:extLst>
                </a:gridCol>
                <a:gridCol w="1542649">
                  <a:extLst>
                    <a:ext uri="{9D8B030D-6E8A-4147-A177-3AD203B41FA5}">
                      <a16:colId xmlns:a16="http://schemas.microsoft.com/office/drawing/2014/main" val="2112532282"/>
                    </a:ext>
                  </a:extLst>
                </a:gridCol>
              </a:tblGrid>
              <a:tr h="178904">
                <a:tc>
                  <a:txBody>
                    <a:bodyPr/>
                    <a:lstStyle/>
                    <a:p>
                      <a:pPr>
                        <a:buNone/>
                      </a:pPr>
                      <a:r>
                        <a:rPr lang="en-IN" sz="600" b="1" dirty="0">
                          <a:latin typeface="Century Gothic"/>
                        </a:rPr>
                        <a:t>Aspect</a:t>
                      </a:r>
                    </a:p>
                  </a:txBody>
                  <a:tcPr marL="45720" marR="45720" anchor="ctr"/>
                </a:tc>
                <a:tc>
                  <a:txBody>
                    <a:bodyPr/>
                    <a:lstStyle/>
                    <a:p>
                      <a:pPr>
                        <a:buNone/>
                      </a:pPr>
                      <a:r>
                        <a:rPr lang="en-IN" sz="600" b="1" dirty="0">
                          <a:latin typeface="Century Gothic"/>
                        </a:rPr>
                        <a:t>Conventional workflow</a:t>
                      </a:r>
                    </a:p>
                  </a:txBody>
                  <a:tcPr marL="45720" marR="45720" anchor="ctr"/>
                </a:tc>
                <a:tc>
                  <a:txBody>
                    <a:bodyPr/>
                    <a:lstStyle/>
                    <a:p>
                      <a:pPr>
                        <a:buNone/>
                      </a:pPr>
                      <a:r>
                        <a:rPr lang="en-IN" sz="600" b="1" dirty="0">
                          <a:latin typeface="Century Gothic"/>
                        </a:rPr>
                        <a:t>Proposed optimization</a:t>
                      </a:r>
                    </a:p>
                  </a:txBody>
                  <a:tcPr marL="45720" marR="45720" anchor="ctr"/>
                </a:tc>
                <a:extLst>
                  <a:ext uri="{0D108BD9-81ED-4DB2-BD59-A6C34878D82A}">
                    <a16:rowId xmlns:a16="http://schemas.microsoft.com/office/drawing/2014/main" val="3050874397"/>
                  </a:ext>
                </a:extLst>
              </a:tr>
              <a:tr h="268357">
                <a:tc>
                  <a:txBody>
                    <a:bodyPr/>
                    <a:lstStyle/>
                    <a:p>
                      <a:pPr>
                        <a:buNone/>
                      </a:pPr>
                      <a:r>
                        <a:rPr lang="en-IN" sz="600" b="1" dirty="0">
                          <a:latin typeface="Century Gothic"/>
                        </a:rPr>
                        <a:t>Origin validation</a:t>
                      </a:r>
                    </a:p>
                  </a:txBody>
                  <a:tcPr marL="45720" marR="45720" anchor="ctr"/>
                </a:tc>
                <a:tc>
                  <a:txBody>
                    <a:bodyPr/>
                    <a:lstStyle/>
                    <a:p>
                      <a:pPr>
                        <a:buNone/>
                      </a:pPr>
                      <a:r>
                        <a:rPr lang="en-IN" sz="600">
                          <a:latin typeface="Century Gothic"/>
                        </a:rPr>
                        <a:t>Consult authorization data separately</a:t>
                      </a:r>
                    </a:p>
                  </a:txBody>
                  <a:tcPr marL="45720" marR="45720" anchor="ctr"/>
                </a:tc>
                <a:tc>
                  <a:txBody>
                    <a:bodyPr/>
                    <a:lstStyle/>
                    <a:p>
                      <a:pPr>
                        <a:buNone/>
                      </a:pPr>
                      <a:r>
                        <a:rPr lang="en-IN" sz="600">
                          <a:latin typeface="Century Gothic"/>
                        </a:rPr>
                        <a:t>Integrate RPKI/ROA validation into the detection pipeline</a:t>
                      </a:r>
                    </a:p>
                  </a:txBody>
                  <a:tcPr marL="45720" marR="45720" anchor="ctr"/>
                </a:tc>
                <a:extLst>
                  <a:ext uri="{0D108BD9-81ED-4DB2-BD59-A6C34878D82A}">
                    <a16:rowId xmlns:a16="http://schemas.microsoft.com/office/drawing/2014/main" val="907142199"/>
                  </a:ext>
                </a:extLst>
              </a:tr>
              <a:tr h="268357">
                <a:tc>
                  <a:txBody>
                    <a:bodyPr/>
                    <a:lstStyle/>
                    <a:p>
                      <a:pPr>
                        <a:buNone/>
                      </a:pPr>
                      <a:r>
                        <a:rPr lang="en-IN" sz="600" b="1" dirty="0">
                          <a:latin typeface="Century Gothic"/>
                        </a:rPr>
                        <a:t>Historical context</a:t>
                      </a:r>
                    </a:p>
                  </a:txBody>
                  <a:tcPr marL="45720" marR="45720" anchor="ctr"/>
                </a:tc>
                <a:tc>
                  <a:txBody>
                    <a:bodyPr/>
                    <a:lstStyle/>
                    <a:p>
                      <a:pPr>
                        <a:buNone/>
                      </a:pPr>
                      <a:r>
                        <a:rPr lang="en-IN" sz="600" dirty="0">
                          <a:latin typeface="Century Gothic"/>
                        </a:rPr>
                        <a:t>Investigate past announcements manually</a:t>
                      </a:r>
                    </a:p>
                  </a:txBody>
                  <a:tcPr marL="45720" marR="45720" anchor="ctr"/>
                </a:tc>
                <a:tc>
                  <a:txBody>
                    <a:bodyPr/>
                    <a:lstStyle/>
                    <a:p>
                      <a:pPr>
                        <a:buNone/>
                      </a:pPr>
                      <a:r>
                        <a:rPr lang="en-IN" sz="600">
                          <a:latin typeface="Century Gothic"/>
                        </a:rPr>
                        <a:t>Maintain prefix and origin history for comparison</a:t>
                      </a:r>
                    </a:p>
                  </a:txBody>
                  <a:tcPr marL="45720" marR="45720" anchor="ctr"/>
                </a:tc>
                <a:extLst>
                  <a:ext uri="{0D108BD9-81ED-4DB2-BD59-A6C34878D82A}">
                    <a16:rowId xmlns:a16="http://schemas.microsoft.com/office/drawing/2014/main" val="38916723"/>
                  </a:ext>
                </a:extLst>
              </a:tr>
              <a:tr h="268357">
                <a:tc>
                  <a:txBody>
                    <a:bodyPr/>
                    <a:lstStyle/>
                    <a:p>
                      <a:pPr>
                        <a:buNone/>
                      </a:pPr>
                      <a:r>
                        <a:rPr lang="en-IN" sz="600" b="1" dirty="0" err="1">
                          <a:latin typeface="Century Gothic"/>
                        </a:rPr>
                        <a:t>Subprefix</a:t>
                      </a:r>
                      <a:r>
                        <a:rPr lang="en-IN" sz="600" b="1" dirty="0">
                          <a:latin typeface="Century Gothic"/>
                        </a:rPr>
                        <a:t> monitoring</a:t>
                      </a:r>
                    </a:p>
                  </a:txBody>
                  <a:tcPr marL="45720" marR="45720" anchor="ctr"/>
                </a:tc>
                <a:tc>
                  <a:txBody>
                    <a:bodyPr/>
                    <a:lstStyle/>
                    <a:p>
                      <a:pPr>
                        <a:buNone/>
                      </a:pPr>
                      <a:r>
                        <a:rPr lang="en-IN" sz="600">
                          <a:latin typeface="Century Gothic"/>
                        </a:rPr>
                        <a:t>Examine more-specific announcements individually</a:t>
                      </a:r>
                    </a:p>
                  </a:txBody>
                  <a:tcPr marL="45720" marR="45720" anchor="ctr"/>
                </a:tc>
                <a:tc>
                  <a:txBody>
                    <a:bodyPr/>
                    <a:lstStyle/>
                    <a:p>
                      <a:pPr>
                        <a:buNone/>
                      </a:pPr>
                      <a:r>
                        <a:rPr lang="en-IN" sz="600">
                          <a:latin typeface="Century Gothic"/>
                        </a:rPr>
                        <a:t>Detect and correlate suspicious subprefix announcements</a:t>
                      </a:r>
                    </a:p>
                  </a:txBody>
                  <a:tcPr marL="45720" marR="45720" anchor="ctr"/>
                </a:tc>
                <a:extLst>
                  <a:ext uri="{0D108BD9-81ED-4DB2-BD59-A6C34878D82A}">
                    <a16:rowId xmlns:a16="http://schemas.microsoft.com/office/drawing/2014/main" val="3186333813"/>
                  </a:ext>
                </a:extLst>
              </a:tr>
              <a:tr h="268357">
                <a:tc>
                  <a:txBody>
                    <a:bodyPr/>
                    <a:lstStyle/>
                    <a:p>
                      <a:pPr>
                        <a:buNone/>
                      </a:pPr>
                      <a:r>
                        <a:rPr lang="en-IN" sz="600" b="1" dirty="0">
                          <a:latin typeface="Century Gothic"/>
                        </a:rPr>
                        <a:t>Multiple monitors</a:t>
                      </a:r>
                    </a:p>
                  </a:txBody>
                  <a:tcPr marL="45720" marR="45720" anchor="ctr"/>
                </a:tc>
                <a:tc>
                  <a:txBody>
                    <a:bodyPr/>
                    <a:lstStyle/>
                    <a:p>
                      <a:pPr>
                        <a:buNone/>
                      </a:pPr>
                      <a:r>
                        <a:rPr lang="en-IN" sz="600" dirty="0">
                          <a:latin typeface="Century Gothic"/>
                        </a:rPr>
                        <a:t>Review observations separately</a:t>
                      </a:r>
                    </a:p>
                  </a:txBody>
                  <a:tcPr marL="45720" marR="45720" anchor="ctr"/>
                </a:tc>
                <a:tc>
                  <a:txBody>
                    <a:bodyPr/>
                    <a:lstStyle/>
                    <a:p>
                      <a:pPr>
                        <a:buNone/>
                      </a:pPr>
                      <a:r>
                        <a:rPr lang="en-IN" sz="600">
                          <a:latin typeface="Century Gothic"/>
                        </a:rPr>
                        <a:t>Correlate observations from available monitors</a:t>
                      </a:r>
                    </a:p>
                  </a:txBody>
                  <a:tcPr marL="45720" marR="45720" anchor="ctr"/>
                </a:tc>
                <a:extLst>
                  <a:ext uri="{0D108BD9-81ED-4DB2-BD59-A6C34878D82A}">
                    <a16:rowId xmlns:a16="http://schemas.microsoft.com/office/drawing/2014/main" val="457956161"/>
                  </a:ext>
                </a:extLst>
              </a:tr>
              <a:tr h="268357">
                <a:tc>
                  <a:txBody>
                    <a:bodyPr/>
                    <a:lstStyle/>
                    <a:p>
                      <a:pPr>
                        <a:buNone/>
                      </a:pPr>
                      <a:r>
                        <a:rPr lang="en-IN" sz="600" b="1" dirty="0">
                          <a:latin typeface="Century Gothic"/>
                        </a:rPr>
                        <a:t>Alert explanation</a:t>
                      </a:r>
                    </a:p>
                  </a:txBody>
                  <a:tcPr marL="45720" marR="45720" anchor="ctr"/>
                </a:tc>
                <a:tc>
                  <a:txBody>
                    <a:bodyPr/>
                    <a:lstStyle/>
                    <a:p>
                      <a:pPr>
                        <a:buNone/>
                      </a:pPr>
                      <a:r>
                        <a:rPr lang="en-IN" sz="600" dirty="0">
                          <a:latin typeface="Century Gothic"/>
                        </a:rPr>
                        <a:t>Interpret raw routing events</a:t>
                      </a:r>
                    </a:p>
                  </a:txBody>
                  <a:tcPr marL="45720" marR="45720" anchor="ctr"/>
                </a:tc>
                <a:tc>
                  <a:txBody>
                    <a:bodyPr/>
                    <a:lstStyle/>
                    <a:p>
                      <a:pPr>
                        <a:buNone/>
                      </a:pPr>
                      <a:r>
                        <a:rPr lang="en-IN" sz="600" dirty="0">
                          <a:latin typeface="Century Gothic"/>
                        </a:rPr>
                        <a:t>Show triggering rules and supporting evidence</a:t>
                      </a:r>
                    </a:p>
                  </a:txBody>
                  <a:tcPr marL="45720" marR="45720" anchor="ctr"/>
                </a:tc>
                <a:extLst>
                  <a:ext uri="{0D108BD9-81ED-4DB2-BD59-A6C34878D82A}">
                    <a16:rowId xmlns:a16="http://schemas.microsoft.com/office/drawing/2014/main" val="2173919057"/>
                  </a:ext>
                </a:extLst>
              </a:tr>
              <a:tr h="268357">
                <a:tc>
                  <a:txBody>
                    <a:bodyPr/>
                    <a:lstStyle/>
                    <a:p>
                      <a:pPr>
                        <a:buNone/>
                      </a:pPr>
                      <a:r>
                        <a:rPr lang="en-IN" sz="600" b="1" dirty="0">
                          <a:latin typeface="Century Gothic"/>
                        </a:rPr>
                        <a:t>Investigation</a:t>
                      </a:r>
                    </a:p>
                  </a:txBody>
                  <a:tcPr marL="45720" marR="45720" anchor="ctr"/>
                </a:tc>
                <a:tc>
                  <a:txBody>
                    <a:bodyPr/>
                    <a:lstStyle/>
                    <a:p>
                      <a:pPr>
                        <a:buNone/>
                      </a:pPr>
                      <a:r>
                        <a:rPr lang="en-IN" sz="600" dirty="0">
                          <a:latin typeface="Century Gothic"/>
                        </a:rPr>
                        <a:t>Switch between data sources and tools</a:t>
                      </a:r>
                    </a:p>
                  </a:txBody>
                  <a:tcPr marL="45720" marR="45720" anchor="ctr"/>
                </a:tc>
                <a:tc>
                  <a:txBody>
                    <a:bodyPr/>
                    <a:lstStyle/>
                    <a:p>
                      <a:pPr>
                        <a:buNone/>
                      </a:pPr>
                      <a:r>
                        <a:rPr lang="en-IN" sz="600" dirty="0">
                          <a:latin typeface="Century Gothic"/>
                        </a:rPr>
                        <a:t>Present alert details and evidence in one interface</a:t>
                      </a:r>
                    </a:p>
                  </a:txBody>
                  <a:tcPr marL="45720" marR="45720" anchor="ctr"/>
                </a:tc>
                <a:extLst>
                  <a:ext uri="{0D108BD9-81ED-4DB2-BD59-A6C34878D82A}">
                    <a16:rowId xmlns:a16="http://schemas.microsoft.com/office/drawing/2014/main" val="3517032083"/>
                  </a:ext>
                </a:extLst>
              </a:tr>
              <a:tr h="268357">
                <a:tc>
                  <a:txBody>
                    <a:bodyPr/>
                    <a:lstStyle/>
                    <a:p>
                      <a:pPr>
                        <a:buNone/>
                      </a:pPr>
                      <a:r>
                        <a:rPr lang="en-IN" sz="600" b="1" dirty="0">
                          <a:latin typeface="Century Gothic"/>
                        </a:rPr>
                        <a:t>Response</a:t>
                      </a:r>
                    </a:p>
                  </a:txBody>
                  <a:tcPr marL="45720" marR="45720" anchor="ctr"/>
                </a:tc>
                <a:tc>
                  <a:txBody>
                    <a:bodyPr/>
                    <a:lstStyle/>
                    <a:p>
                      <a:pPr>
                        <a:buNone/>
                      </a:pPr>
                      <a:r>
                        <a:rPr lang="en-IN" sz="600" dirty="0">
                          <a:latin typeface="Century Gothic"/>
                        </a:rPr>
                        <a:t>Apply decisions using separate workflows</a:t>
                      </a:r>
                    </a:p>
                  </a:txBody>
                  <a:tcPr marL="45720" marR="45720" anchor="ctr"/>
                </a:tc>
                <a:tc>
                  <a:txBody>
                    <a:bodyPr/>
                    <a:lstStyle/>
                    <a:p>
                      <a:pPr>
                        <a:buNone/>
                      </a:pPr>
                      <a:r>
                        <a:rPr lang="en-IN" sz="600" dirty="0">
                          <a:latin typeface="Century Gothic"/>
                        </a:rPr>
                        <a:t>Support structured analyst review and acknowledgement</a:t>
                      </a:r>
                    </a:p>
                  </a:txBody>
                  <a:tcPr marL="45720" marR="45720" anchor="ctr"/>
                </a:tc>
                <a:extLst>
                  <a:ext uri="{0D108BD9-81ED-4DB2-BD59-A6C34878D82A}">
                    <a16:rowId xmlns:a16="http://schemas.microsoft.com/office/drawing/2014/main" val="2637703980"/>
                  </a:ext>
                </a:extLst>
              </a:tr>
            </a:tbl>
          </a:graphicData>
        </a:graphic>
      </p:graphicFrame>
      <p:sp>
        <p:nvSpPr>
          <p:cNvPr id="12" name="TextBox 11">
            <a:extLst>
              <a:ext uri="{FF2B5EF4-FFF2-40B4-BE49-F238E27FC236}">
                <a16:creationId xmlns:a16="http://schemas.microsoft.com/office/drawing/2014/main" id="{4630483D-7AE9-859C-D92F-2076B27C3421}"/>
              </a:ext>
            </a:extLst>
          </p:cNvPr>
          <p:cNvSpPr txBox="1"/>
          <p:nvPr/>
        </p:nvSpPr>
        <p:spPr>
          <a:xfrm>
            <a:off x="229907" y="620920"/>
            <a:ext cx="1586193" cy="1708160"/>
          </a:xfrm>
          <a:prstGeom prst="rect">
            <a:avLst/>
          </a:prstGeom>
          <a:noFill/>
        </p:spPr>
        <p:txBody>
          <a:bodyPr wrap="square">
            <a:spAutoFit/>
          </a:bodyPr>
          <a:lstStyle/>
          <a:p>
            <a:pPr algn="justLow">
              <a:buNone/>
            </a:pPr>
            <a:r>
              <a:rPr lang="en-IN" sz="700" b="1" dirty="0">
                <a:latin typeface="Century Gothic"/>
              </a:rPr>
              <a:t>Expected Benefits</a:t>
            </a:r>
          </a:p>
          <a:p>
            <a:pPr algn="justLow">
              <a:buNone/>
            </a:pPr>
            <a:endParaRPr lang="en-IN" sz="700" b="1" dirty="0">
              <a:latin typeface="Century Gothic"/>
            </a:endParaRPr>
          </a:p>
          <a:p>
            <a:pPr marL="88900" lvl="0" indent="-88900" algn="justLow">
              <a:buFont typeface="Arial" panose="020B0604020202020204" pitchFamily="34" charset="0"/>
              <a:buChar char="•"/>
            </a:pPr>
            <a:r>
              <a:rPr lang="en-IN" sz="700" dirty="0">
                <a:latin typeface="Century Gothic"/>
              </a:rPr>
              <a:t>More consistent identification of suspicious origin and </a:t>
            </a:r>
            <a:r>
              <a:rPr lang="en-IN" sz="700" dirty="0" err="1">
                <a:latin typeface="Century Gothic"/>
              </a:rPr>
              <a:t>subprefix</a:t>
            </a:r>
            <a:r>
              <a:rPr lang="en-IN" sz="700" dirty="0">
                <a:latin typeface="Century Gothic"/>
              </a:rPr>
              <a:t> announcements.</a:t>
            </a:r>
          </a:p>
          <a:p>
            <a:pPr marL="88900" lvl="0" indent="-88900" algn="justLow">
              <a:buFont typeface="Arial" panose="020B0604020202020204" pitchFamily="34" charset="0"/>
              <a:buChar char="•"/>
            </a:pPr>
            <a:r>
              <a:rPr lang="en-IN" sz="700" dirty="0">
                <a:latin typeface="Century Gothic"/>
              </a:rPr>
              <a:t>Reduced manual effort in correlating routing evidence.</a:t>
            </a:r>
          </a:p>
          <a:p>
            <a:pPr marL="88900" lvl="0" indent="-88900" algn="justLow">
              <a:buFont typeface="Arial" panose="020B0604020202020204" pitchFamily="34" charset="0"/>
              <a:buChar char="•"/>
            </a:pPr>
            <a:r>
              <a:rPr lang="en-IN" sz="700" dirty="0">
                <a:latin typeface="Century Gothic"/>
              </a:rPr>
              <a:t>Greater transparency into why an alert was generated.</a:t>
            </a:r>
          </a:p>
          <a:p>
            <a:pPr marL="88900" lvl="0" indent="-88900" algn="justLow">
              <a:buFont typeface="Arial" panose="020B0604020202020204" pitchFamily="34" charset="0"/>
              <a:buChar char="•"/>
            </a:pPr>
            <a:r>
              <a:rPr lang="en-IN" sz="700" dirty="0">
                <a:latin typeface="Century Gothic"/>
              </a:rPr>
              <a:t>Better separation of suspicious observations from confirmed malicious activity.</a:t>
            </a:r>
          </a:p>
          <a:p>
            <a:pPr marL="88900" lvl="0" indent="-88900" algn="justLow">
              <a:buFont typeface="Arial" panose="020B0604020202020204" pitchFamily="34" charset="0"/>
              <a:buChar char="•"/>
            </a:pPr>
            <a:r>
              <a:rPr lang="en-IN" sz="700" dirty="0">
                <a:latin typeface="Century Gothic"/>
              </a:rPr>
              <a:t>Improved support for repeatable investigation and incident documentation.</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9293" y="-20564"/>
            <a:ext cx="2574290" cy="462915"/>
          </a:xfrm>
          <a:prstGeom prst="rect">
            <a:avLst/>
          </a:prstGeom>
        </p:spPr>
        <p:txBody>
          <a:bodyPr vert="horz" wrap="square" lIns="0" tIns="49530" rIns="0" bIns="0" rtlCol="0">
            <a:spAutoFit/>
          </a:bodyPr>
          <a:lstStyle/>
          <a:p>
            <a:pPr marR="5080" algn="r">
              <a:lnSpc>
                <a:spcPct val="100000"/>
              </a:lnSpc>
              <a:spcBef>
                <a:spcPts val="390"/>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a:p>
            <a:pPr>
              <a:lnSpc>
                <a:spcPct val="100000"/>
              </a:lnSpc>
              <a:spcBef>
                <a:spcPts val="10"/>
              </a:spcBef>
            </a:pPr>
            <a:endParaRPr sz="600">
              <a:latin typeface="Century Gothic"/>
              <a:cs typeface="Century Gothic"/>
            </a:endParaRPr>
          </a:p>
          <a:p>
            <a:pPr marL="12700">
              <a:lnSpc>
                <a:spcPct val="100000"/>
              </a:lnSpc>
            </a:pPr>
            <a:r>
              <a:rPr sz="1400" b="1" spc="-20" dirty="0">
                <a:solidFill>
                  <a:srgbClr val="0000DC"/>
                </a:solidFill>
                <a:latin typeface="Century Gothic"/>
                <a:cs typeface="Century Gothic"/>
              </a:rPr>
              <a:t>Solution </a:t>
            </a:r>
            <a:r>
              <a:rPr sz="1400" b="1" spc="-85" dirty="0">
                <a:solidFill>
                  <a:srgbClr val="0000DC"/>
                </a:solidFill>
                <a:latin typeface="Century Gothic"/>
                <a:cs typeface="Century Gothic"/>
              </a:rPr>
              <a:t>Architecture</a:t>
            </a:r>
            <a:r>
              <a:rPr sz="1400" b="1" spc="-15" dirty="0">
                <a:solidFill>
                  <a:srgbClr val="0000DC"/>
                </a:solidFill>
                <a:latin typeface="Century Gothic"/>
                <a:cs typeface="Century Gothic"/>
              </a:rPr>
              <a:t> </a:t>
            </a:r>
            <a:r>
              <a:rPr sz="1400" b="1" spc="204" dirty="0">
                <a:solidFill>
                  <a:srgbClr val="0000DC"/>
                </a:solidFill>
                <a:latin typeface="Century Gothic"/>
                <a:cs typeface="Century Gothic"/>
              </a:rPr>
              <a:t>&amp;</a:t>
            </a:r>
            <a:r>
              <a:rPr sz="1400" b="1" spc="-15" dirty="0">
                <a:solidFill>
                  <a:srgbClr val="0000DC"/>
                </a:solidFill>
                <a:latin typeface="Century Gothic"/>
                <a:cs typeface="Century Gothic"/>
              </a:rPr>
              <a:t> </a:t>
            </a:r>
            <a:r>
              <a:rPr sz="1400" b="1" spc="-10" dirty="0">
                <a:solidFill>
                  <a:srgbClr val="0000DC"/>
                </a:solidFill>
                <a:latin typeface="Century Gothic"/>
                <a:cs typeface="Century Gothic"/>
              </a:rPr>
              <a:t>Design</a:t>
            </a:r>
            <a:endParaRPr sz="1400">
              <a:latin typeface="Century Gothic"/>
              <a:cs typeface="Century Gothic"/>
            </a:endParaRPr>
          </a:p>
        </p:txBody>
      </p:sp>
      <p:sp>
        <p:nvSpPr>
          <p:cNvPr id="3" name="object 3"/>
          <p:cNvSpPr txBox="1"/>
          <p:nvPr/>
        </p:nvSpPr>
        <p:spPr>
          <a:xfrm>
            <a:off x="2947016" y="16997"/>
            <a:ext cx="133096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3" action="ppaction://hlinksldjump"/>
              </a:rPr>
              <a:t>Architecture</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Design</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(UML</a:t>
            </a:r>
            <a:r>
              <a:rPr sz="600" b="1" spc="1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a:latin typeface="Century Gothic"/>
              <a:cs typeface="Century Gothic"/>
            </a:endParaRPr>
          </a:p>
        </p:txBody>
      </p:sp>
      <p:sp>
        <p:nvSpPr>
          <p:cNvPr id="10" name="object 10"/>
          <p:cNvSpPr txBox="1"/>
          <p:nvPr/>
        </p:nvSpPr>
        <p:spPr>
          <a:xfrm>
            <a:off x="1700885" y="2266504"/>
            <a:ext cx="2280285" cy="177800"/>
          </a:xfrm>
          <a:prstGeom prst="rect">
            <a:avLst/>
          </a:prstGeom>
        </p:spPr>
        <p:txBody>
          <a:bodyPr vert="horz" wrap="square" lIns="0" tIns="12065" rIns="0" bIns="0" rtlCol="0">
            <a:spAutoFit/>
          </a:bodyPr>
          <a:lstStyle/>
          <a:p>
            <a:pPr marL="12700">
              <a:lnSpc>
                <a:spcPct val="100000"/>
              </a:lnSpc>
              <a:spcBef>
                <a:spcPts val="95"/>
              </a:spcBef>
            </a:pPr>
            <a:r>
              <a:rPr sz="1000" spc="-40" dirty="0">
                <a:solidFill>
                  <a:srgbClr val="0000DC"/>
                </a:solidFill>
                <a:latin typeface="Century Gothic"/>
                <a:cs typeface="Century Gothic"/>
              </a:rPr>
              <a:t>Figure:</a:t>
            </a:r>
            <a:r>
              <a:rPr sz="1000" dirty="0">
                <a:solidFill>
                  <a:srgbClr val="0000DC"/>
                </a:solidFill>
                <a:latin typeface="Century Gothic"/>
                <a:cs typeface="Century Gothic"/>
              </a:rPr>
              <a:t> </a:t>
            </a:r>
            <a:r>
              <a:rPr sz="1000" spc="-60" dirty="0">
                <a:latin typeface="Century Gothic"/>
                <a:cs typeface="Century Gothic"/>
              </a:rPr>
              <a:t>System</a:t>
            </a:r>
            <a:r>
              <a:rPr sz="1000" dirty="0">
                <a:latin typeface="Century Gothic"/>
                <a:cs typeface="Century Gothic"/>
              </a:rPr>
              <a:t> </a:t>
            </a:r>
            <a:r>
              <a:rPr sz="1000" spc="-80" dirty="0">
                <a:latin typeface="Century Gothic"/>
                <a:cs typeface="Century Gothic"/>
              </a:rPr>
              <a:t>Architecture</a:t>
            </a:r>
            <a:r>
              <a:rPr sz="1000" dirty="0">
                <a:latin typeface="Century Gothic"/>
                <a:cs typeface="Century Gothic"/>
              </a:rPr>
              <a:t> </a:t>
            </a:r>
            <a:r>
              <a:rPr sz="1000" spc="-25" dirty="0">
                <a:latin typeface="Century Gothic"/>
                <a:cs typeface="Century Gothic"/>
              </a:rPr>
              <a:t>UML</a:t>
            </a:r>
            <a:r>
              <a:rPr sz="1000" dirty="0">
                <a:latin typeface="Century Gothic"/>
                <a:cs typeface="Century Gothic"/>
              </a:rPr>
              <a:t> </a:t>
            </a:r>
            <a:r>
              <a:rPr sz="1000" spc="-75" dirty="0">
                <a:latin typeface="Century Gothic"/>
                <a:cs typeface="Century Gothic"/>
              </a:rPr>
              <a:t>Diagram</a:t>
            </a:r>
            <a:endParaRPr sz="1000" dirty="0">
              <a:latin typeface="Century Gothic"/>
              <a:cs typeface="Century Gothic"/>
            </a:endParaRPr>
          </a:p>
        </p:txBody>
      </p:sp>
      <p:sp>
        <p:nvSpPr>
          <p:cNvPr id="12" name="object 12"/>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7</a:t>
            </a:fld>
            <a:r>
              <a:rPr spc="5" dirty="0"/>
              <a:t> </a:t>
            </a:r>
            <a:r>
              <a:rPr dirty="0"/>
              <a:t>/</a:t>
            </a:r>
            <a:r>
              <a:rPr spc="10" dirty="0"/>
              <a:t> </a:t>
            </a:r>
            <a:r>
              <a:rPr spc="-25" dirty="0"/>
              <a:t>11</a:t>
            </a:r>
          </a:p>
        </p:txBody>
      </p:sp>
      <p:sp>
        <p:nvSpPr>
          <p:cNvPr id="14" name="object 6">
            <a:extLst>
              <a:ext uri="{FF2B5EF4-FFF2-40B4-BE49-F238E27FC236}">
                <a16:creationId xmlns:a16="http://schemas.microsoft.com/office/drawing/2014/main" id="{F664E9C5-6712-EA14-0E60-D69C7B3D1CC9}"/>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lang="en-IN" sz="600" b="1" dirty="0">
                <a:solidFill>
                  <a:srgbClr val="0000DC"/>
                </a:solidFill>
                <a:latin typeface="Century Gothic"/>
                <a:cs typeface="Century Gothic"/>
                <a:hlinkClick r:id="rId4"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pic>
        <p:nvPicPr>
          <p:cNvPr id="18" name="Picture 17">
            <a:extLst>
              <a:ext uri="{FF2B5EF4-FFF2-40B4-BE49-F238E27FC236}">
                <a16:creationId xmlns:a16="http://schemas.microsoft.com/office/drawing/2014/main" id="{45EA3EC6-CE3A-1390-F9B6-EAB0CBCB02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7941" y="1029715"/>
            <a:ext cx="5169917" cy="846296"/>
          </a:xfrm>
          <a:prstGeom prst="rect">
            <a:avLst/>
          </a:prstGeom>
        </p:spPr>
      </p:pic>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1169035" cy="116839"/>
          </a:xfrm>
          <a:prstGeom prst="rect">
            <a:avLst/>
          </a:prstGeom>
        </p:spPr>
        <p:txBody>
          <a:bodyPr vert="horz" wrap="square" lIns="0" tIns="12065" rIns="0" bIns="0" rtlCol="0">
            <a:spAutoFit/>
          </a:bodyPr>
          <a:lstStyle/>
          <a:p>
            <a:pPr marL="12700">
              <a:lnSpc>
                <a:spcPct val="100000"/>
              </a:lnSpc>
              <a:spcBef>
                <a:spcPts val="95"/>
              </a:spcBef>
              <a:tabLst>
                <a:tab pos="450850" algn="l"/>
              </a:tabLst>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r>
              <a:rPr sz="600" b="1" dirty="0">
                <a:solidFill>
                  <a:srgbClr val="0000DC"/>
                </a:solidFill>
                <a:latin typeface="Century Gothic"/>
                <a:cs typeface="Century Gothic"/>
              </a:rPr>
              <a:t>	</a:t>
            </a:r>
            <a:r>
              <a:rPr sz="600" b="1" spc="-10" dirty="0">
                <a:solidFill>
                  <a:srgbClr val="0000DC"/>
                </a:solidFill>
                <a:latin typeface="Century Gothic"/>
                <a:cs typeface="Century Gothic"/>
                <a:hlinkClick r:id="rId3" action="ppaction://hlinksldjump"/>
              </a:rPr>
              <a:t>Data</a:t>
            </a:r>
            <a:r>
              <a:rPr sz="600" b="1" spc="2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Flow</a:t>
            </a:r>
            <a:r>
              <a:rPr sz="600" b="1" spc="20"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a:latin typeface="Century Gothic"/>
              <a:cs typeface="Century Gothic"/>
            </a:endParaRPr>
          </a:p>
        </p:txBody>
      </p:sp>
      <p:sp>
        <p:nvSpPr>
          <p:cNvPr id="3" name="object 3" descr="$PPTXTitle"/>
          <p:cNvSpPr txBox="1">
            <a:spLocks noGrp="1"/>
          </p:cNvSpPr>
          <p:nvPr>
            <p:ph type="title"/>
          </p:nvPr>
        </p:nvSpPr>
        <p:spPr>
          <a:xfrm>
            <a:off x="239293" y="106208"/>
            <a:ext cx="4951730" cy="325730"/>
          </a:xfrm>
          <a:prstGeom prst="rect">
            <a:avLst/>
          </a:prstGeom>
        </p:spPr>
        <p:txBody>
          <a:bodyPr vert="horz" wrap="square" lIns="0" tIns="109220" rIns="0" bIns="0" rtlCol="0">
            <a:spAutoFit/>
          </a:bodyPr>
          <a:lstStyle/>
          <a:p>
            <a:pPr marL="12700">
              <a:lnSpc>
                <a:spcPct val="100000"/>
              </a:lnSpc>
              <a:spcBef>
                <a:spcPts val="860"/>
              </a:spcBef>
            </a:pPr>
            <a:r>
              <a:rPr spc="-114" dirty="0"/>
              <a:t>Data</a:t>
            </a:r>
            <a:r>
              <a:rPr spc="-30" dirty="0"/>
              <a:t> </a:t>
            </a:r>
            <a:r>
              <a:rPr spc="-20" dirty="0"/>
              <a:t>Flow</a:t>
            </a:r>
            <a:r>
              <a:rPr spc="-30" dirty="0"/>
              <a:t> </a:t>
            </a:r>
            <a:r>
              <a:rPr spc="-10" dirty="0"/>
              <a:t>Diagram</a:t>
            </a:r>
          </a:p>
        </p:txBody>
      </p:sp>
      <p:sp>
        <p:nvSpPr>
          <p:cNvPr id="9" name="object 9"/>
          <p:cNvSpPr txBox="1"/>
          <p:nvPr/>
        </p:nvSpPr>
        <p:spPr>
          <a:xfrm>
            <a:off x="3644900" y="2960956"/>
            <a:ext cx="1459034" cy="89127"/>
          </a:xfrm>
          <a:prstGeom prst="rect">
            <a:avLst/>
          </a:prstGeom>
        </p:spPr>
        <p:txBody>
          <a:bodyPr vert="horz" wrap="square" lIns="0" tIns="12065" rIns="0" bIns="0" rtlCol="0">
            <a:spAutoFit/>
          </a:bodyPr>
          <a:lstStyle/>
          <a:p>
            <a:pPr marL="12700" algn="ctr">
              <a:lnSpc>
                <a:spcPct val="100000"/>
              </a:lnSpc>
              <a:spcBef>
                <a:spcPts val="95"/>
              </a:spcBef>
            </a:pPr>
            <a:r>
              <a:rPr sz="500" dirty="0">
                <a:solidFill>
                  <a:srgbClr val="0000DC"/>
                </a:solidFill>
                <a:latin typeface="Century Gothic"/>
                <a:cs typeface="Century Gothic"/>
              </a:rPr>
              <a:t>Figure: </a:t>
            </a:r>
            <a:r>
              <a:rPr sz="500" dirty="0">
                <a:latin typeface="Century Gothic"/>
                <a:cs typeface="Century Gothic"/>
              </a:rPr>
              <a:t>Data Flow Diagram (DFD)</a:t>
            </a:r>
          </a:p>
        </p:txBody>
      </p:sp>
      <p:sp>
        <p:nvSpPr>
          <p:cNvPr id="11" name="object 11"/>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8</a:t>
            </a:fld>
            <a:r>
              <a:rPr spc="5" dirty="0"/>
              <a:t> </a:t>
            </a:r>
            <a:r>
              <a:rPr dirty="0"/>
              <a:t>/</a:t>
            </a:r>
            <a:r>
              <a:rPr spc="10" dirty="0"/>
              <a:t> </a:t>
            </a:r>
            <a:r>
              <a:rPr spc="-25" dirty="0"/>
              <a:t>11</a:t>
            </a:r>
          </a:p>
        </p:txBody>
      </p:sp>
      <p:sp>
        <p:nvSpPr>
          <p:cNvPr id="13" name="object 6">
            <a:extLst>
              <a:ext uri="{FF2B5EF4-FFF2-40B4-BE49-F238E27FC236}">
                <a16:creationId xmlns:a16="http://schemas.microsoft.com/office/drawing/2014/main" id="{0C123275-FD05-437B-DC0E-611AC02FDE67}"/>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lang="en-IN" sz="600" b="1" dirty="0">
                <a:solidFill>
                  <a:srgbClr val="0000DC"/>
                </a:solidFill>
                <a:latin typeface="Century Gothic"/>
                <a:cs typeface="Century Gothic"/>
                <a:hlinkClick r:id="rId4"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pic>
        <p:nvPicPr>
          <p:cNvPr id="15" name="Picture 14">
            <a:extLst>
              <a:ext uri="{FF2B5EF4-FFF2-40B4-BE49-F238E27FC236}">
                <a16:creationId xmlns:a16="http://schemas.microsoft.com/office/drawing/2014/main" id="{D441C559-6D75-E3F2-0BEF-D964AFFBE2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68700" y="261719"/>
            <a:ext cx="1459034" cy="2579906"/>
          </a:xfrm>
          <a:prstGeom prst="rect">
            <a:avLst/>
          </a:prstGeom>
        </p:spPr>
      </p:pic>
      <p:sp>
        <p:nvSpPr>
          <p:cNvPr id="17" name="TextBox 16">
            <a:extLst>
              <a:ext uri="{FF2B5EF4-FFF2-40B4-BE49-F238E27FC236}">
                <a16:creationId xmlns:a16="http://schemas.microsoft.com/office/drawing/2014/main" id="{8523FE89-6423-E5C2-023A-CE48B02D72DF}"/>
              </a:ext>
            </a:extLst>
          </p:cNvPr>
          <p:cNvSpPr txBox="1"/>
          <p:nvPr/>
        </p:nvSpPr>
        <p:spPr>
          <a:xfrm>
            <a:off x="206273" y="818654"/>
            <a:ext cx="2552091" cy="1323439"/>
          </a:xfrm>
          <a:prstGeom prst="rect">
            <a:avLst/>
          </a:prstGeom>
          <a:noFill/>
        </p:spPr>
        <p:txBody>
          <a:bodyPr wrap="square">
            <a:spAutoFit/>
          </a:bodyPr>
          <a:lstStyle/>
          <a:p>
            <a:pPr algn="just">
              <a:buNone/>
            </a:pPr>
            <a:r>
              <a:rPr lang="en-IN" sz="800" dirty="0">
                <a:latin typeface="Century Gothic"/>
              </a:rPr>
              <a:t>The Data Flow Diagram (DFD) illustrates how BGP announcements are collected and normalized, enriched using RPKI/ROA authorization data and historical routing observations, and analysed to detect and explain anomalies. The resulting alerts and supporting evidence are stored for review, allowing network operators to investigate findings, classify incidents, and update alert statuses.</a:t>
            </a: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3058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3" action="ppaction://hlinksldjump"/>
              </a:rPr>
              <a:t>Deployment</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Timeline</a:t>
            </a:r>
            <a:endParaRPr sz="600">
              <a:latin typeface="Century Gothic"/>
              <a:cs typeface="Century Gothic"/>
            </a:endParaRPr>
          </a:p>
        </p:txBody>
      </p:sp>
      <p:sp>
        <p:nvSpPr>
          <p:cNvPr id="4" name="object 4"/>
          <p:cNvSpPr txBox="1"/>
          <p:nvPr/>
        </p:nvSpPr>
        <p:spPr>
          <a:xfrm>
            <a:off x="239293" y="198244"/>
            <a:ext cx="1704975" cy="244475"/>
          </a:xfrm>
          <a:prstGeom prst="rect">
            <a:avLst/>
          </a:prstGeom>
        </p:spPr>
        <p:txBody>
          <a:bodyPr vert="horz" wrap="square" lIns="0" tIns="17145" rIns="0" bIns="0" rtlCol="0">
            <a:spAutoFit/>
          </a:bodyPr>
          <a:lstStyle/>
          <a:p>
            <a:pPr marL="12700">
              <a:lnSpc>
                <a:spcPct val="100000"/>
              </a:lnSpc>
              <a:spcBef>
                <a:spcPts val="135"/>
              </a:spcBef>
            </a:pPr>
            <a:r>
              <a:rPr sz="1400" b="1" spc="-95" dirty="0">
                <a:solidFill>
                  <a:srgbClr val="0000DC"/>
                </a:solidFill>
                <a:latin typeface="Century Gothic"/>
                <a:cs typeface="Century Gothic"/>
              </a:rPr>
              <a:t>Deployment</a:t>
            </a:r>
            <a:r>
              <a:rPr sz="1400" b="1" spc="-20" dirty="0">
                <a:solidFill>
                  <a:srgbClr val="0000DC"/>
                </a:solidFill>
                <a:latin typeface="Century Gothic"/>
                <a:cs typeface="Century Gothic"/>
              </a:rPr>
              <a:t> </a:t>
            </a:r>
            <a:r>
              <a:rPr sz="1400" b="1" spc="-10" dirty="0">
                <a:solidFill>
                  <a:srgbClr val="0000DC"/>
                </a:solidFill>
                <a:latin typeface="Century Gothic"/>
                <a:cs typeface="Century Gothic"/>
              </a:rPr>
              <a:t>Timeline</a:t>
            </a:r>
            <a:endParaRPr sz="14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9</a:t>
            </a:fld>
            <a:r>
              <a:rPr spc="5" dirty="0"/>
              <a:t> </a:t>
            </a:r>
            <a:r>
              <a:rPr dirty="0"/>
              <a:t>/</a:t>
            </a:r>
            <a:r>
              <a:rPr spc="10" dirty="0"/>
              <a:t> </a:t>
            </a:r>
            <a:r>
              <a:rPr spc="-25" dirty="0"/>
              <a:t>11</a:t>
            </a:r>
          </a:p>
        </p:txBody>
      </p:sp>
      <p:sp>
        <p:nvSpPr>
          <p:cNvPr id="9" name="object 6">
            <a:extLst>
              <a:ext uri="{FF2B5EF4-FFF2-40B4-BE49-F238E27FC236}">
                <a16:creationId xmlns:a16="http://schemas.microsoft.com/office/drawing/2014/main" id="{FE170788-3E64-B1E9-AFFE-36847E962EC8}"/>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lang="en-IN" sz="600" b="1" dirty="0">
                <a:solidFill>
                  <a:srgbClr val="0000DC"/>
                </a:solidFill>
                <a:latin typeface="Century Gothic"/>
                <a:cs typeface="Century Gothic"/>
                <a:hlinkClick r:id="rId4"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graphicFrame>
        <p:nvGraphicFramePr>
          <p:cNvPr id="10" name="Table 9">
            <a:extLst>
              <a:ext uri="{FF2B5EF4-FFF2-40B4-BE49-F238E27FC236}">
                <a16:creationId xmlns:a16="http://schemas.microsoft.com/office/drawing/2014/main" id="{66ECE31F-6F08-F3F4-EFAC-F7D7ECA64868}"/>
              </a:ext>
            </a:extLst>
          </p:cNvPr>
          <p:cNvGraphicFramePr>
            <a:graphicFrameLocks noGrp="1"/>
          </p:cNvGraphicFramePr>
          <p:nvPr>
            <p:extLst>
              <p:ext uri="{D42A27DB-BD31-4B8C-83A1-F6EECF244321}">
                <p14:modId xmlns:p14="http://schemas.microsoft.com/office/powerpoint/2010/main" val="764844286"/>
              </p:ext>
            </p:extLst>
          </p:nvPr>
        </p:nvGraphicFramePr>
        <p:xfrm>
          <a:off x="292100" y="593592"/>
          <a:ext cx="4940843" cy="2194560"/>
        </p:xfrm>
        <a:graphic>
          <a:graphicData uri="http://schemas.openxmlformats.org/drawingml/2006/table">
            <a:tbl>
              <a:tblPr>
                <a:tableStyleId>{5940675A-B579-460E-94D1-54222C63F5DA}</a:tableStyleId>
              </a:tblPr>
              <a:tblGrid>
                <a:gridCol w="1054643">
                  <a:extLst>
                    <a:ext uri="{9D8B030D-6E8A-4147-A177-3AD203B41FA5}">
                      <a16:colId xmlns:a16="http://schemas.microsoft.com/office/drawing/2014/main" val="2389930695"/>
                    </a:ext>
                  </a:extLst>
                </a:gridCol>
                <a:gridCol w="1295400">
                  <a:extLst>
                    <a:ext uri="{9D8B030D-6E8A-4147-A177-3AD203B41FA5}">
                      <a16:colId xmlns:a16="http://schemas.microsoft.com/office/drawing/2014/main" val="1093865413"/>
                    </a:ext>
                  </a:extLst>
                </a:gridCol>
                <a:gridCol w="1295400">
                  <a:extLst>
                    <a:ext uri="{9D8B030D-6E8A-4147-A177-3AD203B41FA5}">
                      <a16:colId xmlns:a16="http://schemas.microsoft.com/office/drawing/2014/main" val="1708933782"/>
                    </a:ext>
                  </a:extLst>
                </a:gridCol>
                <a:gridCol w="1295400">
                  <a:extLst>
                    <a:ext uri="{9D8B030D-6E8A-4147-A177-3AD203B41FA5}">
                      <a16:colId xmlns:a16="http://schemas.microsoft.com/office/drawing/2014/main" val="116816726"/>
                    </a:ext>
                  </a:extLst>
                </a:gridCol>
              </a:tblGrid>
              <a:tr h="0">
                <a:tc>
                  <a:txBody>
                    <a:bodyPr/>
                    <a:lstStyle/>
                    <a:p>
                      <a:pPr>
                        <a:buNone/>
                      </a:pPr>
                      <a:r>
                        <a:rPr lang="en-IN" sz="600" b="1" dirty="0">
                          <a:solidFill>
                            <a:schemeClr val="tx1"/>
                          </a:solidFill>
                          <a:latin typeface="Century Gothic"/>
                          <a:ea typeface="+mn-ea"/>
                          <a:cs typeface="+mn-cs"/>
                        </a:rPr>
                        <a:t>Phase</a:t>
                      </a:r>
                    </a:p>
                  </a:txBody>
                  <a:tcPr marL="45720" marR="45720" anchor="ctr"/>
                </a:tc>
                <a:tc>
                  <a:txBody>
                    <a:bodyPr/>
                    <a:lstStyle/>
                    <a:p>
                      <a:pPr>
                        <a:buNone/>
                      </a:pPr>
                      <a:r>
                        <a:rPr lang="en-IN" sz="600" b="1" dirty="0">
                          <a:solidFill>
                            <a:schemeClr val="tx1"/>
                          </a:solidFill>
                          <a:latin typeface="Century Gothic"/>
                          <a:ea typeface="+mn-ea"/>
                          <a:cs typeface="+mn-cs"/>
                        </a:rPr>
                        <a:t>Timeline</a:t>
                      </a:r>
                    </a:p>
                  </a:txBody>
                  <a:tcPr marL="45720" marR="45720" anchor="ctr"/>
                </a:tc>
                <a:tc>
                  <a:txBody>
                    <a:bodyPr/>
                    <a:lstStyle/>
                    <a:p>
                      <a:pPr>
                        <a:buNone/>
                      </a:pPr>
                      <a:r>
                        <a:rPr lang="en-IN" sz="600" b="1" dirty="0">
                          <a:solidFill>
                            <a:schemeClr val="tx1"/>
                          </a:solidFill>
                          <a:latin typeface="Century Gothic"/>
                          <a:ea typeface="+mn-ea"/>
                          <a:cs typeface="+mn-cs"/>
                        </a:rPr>
                        <a:t>Key activities</a:t>
                      </a:r>
                    </a:p>
                  </a:txBody>
                  <a:tcPr marL="45720" marR="45720" anchor="ctr"/>
                </a:tc>
                <a:tc>
                  <a:txBody>
                    <a:bodyPr/>
                    <a:lstStyle/>
                    <a:p>
                      <a:pPr>
                        <a:buNone/>
                      </a:pPr>
                      <a:r>
                        <a:rPr lang="en-IN" sz="600" b="1" dirty="0">
                          <a:solidFill>
                            <a:schemeClr val="tx1"/>
                          </a:solidFill>
                          <a:latin typeface="Century Gothic"/>
                          <a:ea typeface="+mn-ea"/>
                          <a:cs typeface="+mn-cs"/>
                        </a:rPr>
                        <a:t>Deliverable</a:t>
                      </a:r>
                    </a:p>
                  </a:txBody>
                  <a:tcPr marL="45720" marR="45720" anchor="ctr"/>
                </a:tc>
                <a:extLst>
                  <a:ext uri="{0D108BD9-81ED-4DB2-BD59-A6C34878D82A}">
                    <a16:rowId xmlns:a16="http://schemas.microsoft.com/office/drawing/2014/main" val="3154555220"/>
                  </a:ext>
                </a:extLst>
              </a:tr>
              <a:tr h="137881">
                <a:tc>
                  <a:txBody>
                    <a:bodyPr/>
                    <a:lstStyle/>
                    <a:p>
                      <a:pPr>
                        <a:buNone/>
                      </a:pPr>
                      <a:r>
                        <a:rPr lang="en-IN" sz="600" b="1" dirty="0">
                          <a:solidFill>
                            <a:schemeClr val="tx1"/>
                          </a:solidFill>
                          <a:latin typeface="Century Gothic"/>
                          <a:ea typeface="+mn-ea"/>
                          <a:cs typeface="+mn-cs"/>
                        </a:rPr>
                        <a:t>1. Requirements and design</a:t>
                      </a:r>
                    </a:p>
                  </a:txBody>
                  <a:tcPr marL="45720" marR="45720" anchor="ctr"/>
                </a:tc>
                <a:tc>
                  <a:txBody>
                    <a:bodyPr/>
                    <a:lstStyle/>
                    <a:p>
                      <a:pPr>
                        <a:buNone/>
                      </a:pPr>
                      <a:r>
                        <a:rPr lang="en-IN" sz="600" dirty="0">
                          <a:solidFill>
                            <a:schemeClr val="tx1"/>
                          </a:solidFill>
                          <a:latin typeface="Century Gothic"/>
                          <a:ea typeface="+mn-ea"/>
                          <a:cs typeface="+mn-cs"/>
                        </a:rPr>
                        <a:t>Days 1–2</a:t>
                      </a:r>
                    </a:p>
                  </a:txBody>
                  <a:tcPr marL="45720" marR="45720" anchor="ctr"/>
                </a:tc>
                <a:tc>
                  <a:txBody>
                    <a:bodyPr/>
                    <a:lstStyle/>
                    <a:p>
                      <a:pPr>
                        <a:buNone/>
                      </a:pPr>
                      <a:r>
                        <a:rPr lang="en-IN" sz="600" dirty="0">
                          <a:solidFill>
                            <a:schemeClr val="tx1"/>
                          </a:solidFill>
                          <a:latin typeface="Century Gothic"/>
                          <a:ea typeface="+mn-ea"/>
                          <a:cs typeface="+mn-cs"/>
                        </a:rPr>
                        <a:t>Define anomaly categories, data fields, and detection rules</a:t>
                      </a:r>
                    </a:p>
                  </a:txBody>
                  <a:tcPr marL="45720" marR="45720" anchor="ctr"/>
                </a:tc>
                <a:tc>
                  <a:txBody>
                    <a:bodyPr/>
                    <a:lstStyle/>
                    <a:p>
                      <a:pPr>
                        <a:buNone/>
                      </a:pPr>
                      <a:r>
                        <a:rPr lang="en-IN" sz="600">
                          <a:solidFill>
                            <a:schemeClr val="tx1"/>
                          </a:solidFill>
                          <a:latin typeface="Century Gothic"/>
                          <a:ea typeface="+mn-ea"/>
                          <a:cs typeface="+mn-cs"/>
                        </a:rPr>
                        <a:t>Requirements and architecture</a:t>
                      </a:r>
                    </a:p>
                  </a:txBody>
                  <a:tcPr marL="45720" marR="45720" anchor="ctr"/>
                </a:tc>
                <a:extLst>
                  <a:ext uri="{0D108BD9-81ED-4DB2-BD59-A6C34878D82A}">
                    <a16:rowId xmlns:a16="http://schemas.microsoft.com/office/drawing/2014/main" val="3557489201"/>
                  </a:ext>
                </a:extLst>
              </a:tr>
              <a:tr h="119079">
                <a:tc>
                  <a:txBody>
                    <a:bodyPr/>
                    <a:lstStyle/>
                    <a:p>
                      <a:pPr>
                        <a:buNone/>
                      </a:pPr>
                      <a:r>
                        <a:rPr lang="en-IN" sz="600" b="1" dirty="0">
                          <a:solidFill>
                            <a:schemeClr val="tx1"/>
                          </a:solidFill>
                          <a:latin typeface="Century Gothic"/>
                          <a:ea typeface="+mn-ea"/>
                          <a:cs typeface="+mn-cs"/>
                        </a:rPr>
                        <a:t>2. Data ingestion</a:t>
                      </a:r>
                    </a:p>
                  </a:txBody>
                  <a:tcPr marL="45720" marR="45720" anchor="ctr"/>
                </a:tc>
                <a:tc>
                  <a:txBody>
                    <a:bodyPr/>
                    <a:lstStyle/>
                    <a:p>
                      <a:pPr>
                        <a:buNone/>
                      </a:pPr>
                      <a:r>
                        <a:rPr lang="en-IN" sz="600" dirty="0">
                          <a:solidFill>
                            <a:schemeClr val="tx1"/>
                          </a:solidFill>
                          <a:latin typeface="Century Gothic"/>
                          <a:ea typeface="+mn-ea"/>
                          <a:cs typeface="+mn-cs"/>
                        </a:rPr>
                        <a:t>Days 3–4</a:t>
                      </a:r>
                    </a:p>
                  </a:txBody>
                  <a:tcPr marL="45720" marR="45720" anchor="ctr"/>
                </a:tc>
                <a:tc>
                  <a:txBody>
                    <a:bodyPr/>
                    <a:lstStyle/>
                    <a:p>
                      <a:pPr>
                        <a:buNone/>
                      </a:pPr>
                      <a:r>
                        <a:rPr lang="en-IN" sz="600" dirty="0">
                          <a:solidFill>
                            <a:schemeClr val="tx1"/>
                          </a:solidFill>
                          <a:latin typeface="Century Gothic"/>
                          <a:ea typeface="+mn-ea"/>
                          <a:cs typeface="+mn-cs"/>
                        </a:rPr>
                        <a:t>Connect to BGP data sources and normalize route records</a:t>
                      </a:r>
                    </a:p>
                  </a:txBody>
                  <a:tcPr marL="45720" marR="45720" anchor="ctr"/>
                </a:tc>
                <a:tc>
                  <a:txBody>
                    <a:bodyPr/>
                    <a:lstStyle/>
                    <a:p>
                      <a:pPr>
                        <a:buNone/>
                      </a:pPr>
                      <a:r>
                        <a:rPr lang="en-IN" sz="600" dirty="0">
                          <a:solidFill>
                            <a:schemeClr val="tx1"/>
                          </a:solidFill>
                          <a:latin typeface="Century Gothic"/>
                          <a:ea typeface="+mn-ea"/>
                          <a:cs typeface="+mn-cs"/>
                        </a:rPr>
                        <a:t>Ingestion module</a:t>
                      </a:r>
                    </a:p>
                  </a:txBody>
                  <a:tcPr marL="45720" marR="45720" anchor="ctr"/>
                </a:tc>
                <a:extLst>
                  <a:ext uri="{0D108BD9-81ED-4DB2-BD59-A6C34878D82A}">
                    <a16:rowId xmlns:a16="http://schemas.microsoft.com/office/drawing/2014/main" val="4117703160"/>
                  </a:ext>
                </a:extLst>
              </a:tr>
              <a:tr h="119079">
                <a:tc>
                  <a:txBody>
                    <a:bodyPr/>
                    <a:lstStyle/>
                    <a:p>
                      <a:pPr>
                        <a:buNone/>
                      </a:pPr>
                      <a:r>
                        <a:rPr lang="en-IN" sz="600" b="1" dirty="0">
                          <a:solidFill>
                            <a:schemeClr val="tx1"/>
                          </a:solidFill>
                          <a:latin typeface="Century Gothic"/>
                          <a:ea typeface="+mn-ea"/>
                          <a:cs typeface="+mn-cs"/>
                        </a:rPr>
                        <a:t>3. Context enrichment</a:t>
                      </a:r>
                    </a:p>
                  </a:txBody>
                  <a:tcPr marL="45720" marR="45720" anchor="ctr"/>
                </a:tc>
                <a:tc>
                  <a:txBody>
                    <a:bodyPr/>
                    <a:lstStyle/>
                    <a:p>
                      <a:pPr>
                        <a:buNone/>
                      </a:pPr>
                      <a:r>
                        <a:rPr lang="en-IN" sz="600" dirty="0">
                          <a:solidFill>
                            <a:schemeClr val="tx1"/>
                          </a:solidFill>
                          <a:latin typeface="Century Gothic"/>
                          <a:ea typeface="+mn-ea"/>
                          <a:cs typeface="+mn-cs"/>
                        </a:rPr>
                        <a:t>Days 5–6</a:t>
                      </a:r>
                    </a:p>
                  </a:txBody>
                  <a:tcPr marL="45720" marR="45720" anchor="ctr"/>
                </a:tc>
                <a:tc>
                  <a:txBody>
                    <a:bodyPr/>
                    <a:lstStyle/>
                    <a:p>
                      <a:pPr>
                        <a:buNone/>
                      </a:pPr>
                      <a:r>
                        <a:rPr lang="en-IN" sz="600" dirty="0">
                          <a:solidFill>
                            <a:schemeClr val="tx1"/>
                          </a:solidFill>
                          <a:latin typeface="Century Gothic"/>
                          <a:ea typeface="+mn-ea"/>
                          <a:cs typeface="+mn-cs"/>
                        </a:rPr>
                        <a:t>Integrate RPKI/ROA validation and prefix-origin history</a:t>
                      </a:r>
                    </a:p>
                  </a:txBody>
                  <a:tcPr marL="45720" marR="45720" anchor="ctr"/>
                </a:tc>
                <a:tc>
                  <a:txBody>
                    <a:bodyPr/>
                    <a:lstStyle/>
                    <a:p>
                      <a:pPr>
                        <a:buNone/>
                      </a:pPr>
                      <a:r>
                        <a:rPr lang="en-IN" sz="600" dirty="0">
                          <a:solidFill>
                            <a:schemeClr val="tx1"/>
                          </a:solidFill>
                          <a:latin typeface="Century Gothic"/>
                          <a:ea typeface="+mn-ea"/>
                          <a:cs typeface="+mn-cs"/>
                        </a:rPr>
                        <a:t>Enrichment module</a:t>
                      </a:r>
                    </a:p>
                  </a:txBody>
                  <a:tcPr marL="45720" marR="45720" anchor="ctr"/>
                </a:tc>
                <a:extLst>
                  <a:ext uri="{0D108BD9-81ED-4DB2-BD59-A6C34878D82A}">
                    <a16:rowId xmlns:a16="http://schemas.microsoft.com/office/drawing/2014/main" val="557381468"/>
                  </a:ext>
                </a:extLst>
              </a:tr>
              <a:tr h="137881">
                <a:tc>
                  <a:txBody>
                    <a:bodyPr/>
                    <a:lstStyle/>
                    <a:p>
                      <a:pPr>
                        <a:buNone/>
                      </a:pPr>
                      <a:r>
                        <a:rPr lang="en-IN" sz="600" b="1">
                          <a:solidFill>
                            <a:schemeClr val="tx1"/>
                          </a:solidFill>
                          <a:latin typeface="Century Gothic"/>
                          <a:ea typeface="+mn-ea"/>
                          <a:cs typeface="+mn-cs"/>
                        </a:rPr>
                        <a:t>4. Detection engine</a:t>
                      </a:r>
                    </a:p>
                  </a:txBody>
                  <a:tcPr marL="45720" marR="45720" anchor="ctr"/>
                </a:tc>
                <a:tc>
                  <a:txBody>
                    <a:bodyPr/>
                    <a:lstStyle/>
                    <a:p>
                      <a:pPr>
                        <a:buNone/>
                      </a:pPr>
                      <a:r>
                        <a:rPr lang="en-IN" sz="600" dirty="0">
                          <a:solidFill>
                            <a:schemeClr val="tx1"/>
                          </a:solidFill>
                          <a:latin typeface="Century Gothic"/>
                          <a:ea typeface="+mn-ea"/>
                          <a:cs typeface="+mn-cs"/>
                        </a:rPr>
                        <a:t>Days 7–9</a:t>
                      </a:r>
                    </a:p>
                  </a:txBody>
                  <a:tcPr marL="45720" marR="45720" anchor="ctr"/>
                </a:tc>
                <a:tc>
                  <a:txBody>
                    <a:bodyPr/>
                    <a:lstStyle/>
                    <a:p>
                      <a:pPr>
                        <a:buNone/>
                      </a:pPr>
                      <a:r>
                        <a:rPr lang="en-IN" sz="600">
                          <a:solidFill>
                            <a:schemeClr val="tx1"/>
                          </a:solidFill>
                          <a:latin typeface="Century Gothic"/>
                          <a:ea typeface="+mn-ea"/>
                          <a:cs typeface="+mn-cs"/>
                        </a:rPr>
                        <a:t>Implement origin-change, invalid-origin, and subprefix rules</a:t>
                      </a:r>
                    </a:p>
                  </a:txBody>
                  <a:tcPr marL="45720" marR="45720" anchor="ctr"/>
                </a:tc>
                <a:tc>
                  <a:txBody>
                    <a:bodyPr/>
                    <a:lstStyle/>
                    <a:p>
                      <a:pPr>
                        <a:buNone/>
                      </a:pPr>
                      <a:r>
                        <a:rPr lang="en-IN" sz="600" dirty="0">
                          <a:solidFill>
                            <a:schemeClr val="tx1"/>
                          </a:solidFill>
                          <a:latin typeface="Century Gothic"/>
                          <a:ea typeface="+mn-ea"/>
                          <a:cs typeface="+mn-cs"/>
                        </a:rPr>
                        <a:t>Detection and evidence engine</a:t>
                      </a:r>
                    </a:p>
                  </a:txBody>
                  <a:tcPr marL="45720" marR="45720" anchor="ctr"/>
                </a:tc>
                <a:extLst>
                  <a:ext uri="{0D108BD9-81ED-4DB2-BD59-A6C34878D82A}">
                    <a16:rowId xmlns:a16="http://schemas.microsoft.com/office/drawing/2014/main" val="3042444625"/>
                  </a:ext>
                </a:extLst>
              </a:tr>
              <a:tr h="119079">
                <a:tc>
                  <a:txBody>
                    <a:bodyPr/>
                    <a:lstStyle/>
                    <a:p>
                      <a:pPr>
                        <a:buNone/>
                      </a:pPr>
                      <a:r>
                        <a:rPr lang="en-IN" sz="600" b="1" dirty="0">
                          <a:solidFill>
                            <a:schemeClr val="tx1"/>
                          </a:solidFill>
                          <a:latin typeface="Century Gothic"/>
                          <a:ea typeface="+mn-ea"/>
                          <a:cs typeface="+mn-cs"/>
                        </a:rPr>
                        <a:t>5. Dashboard integration</a:t>
                      </a:r>
                    </a:p>
                  </a:txBody>
                  <a:tcPr marL="45720" marR="45720" anchor="ctr"/>
                </a:tc>
                <a:tc>
                  <a:txBody>
                    <a:bodyPr/>
                    <a:lstStyle/>
                    <a:p>
                      <a:pPr>
                        <a:buNone/>
                      </a:pPr>
                      <a:r>
                        <a:rPr lang="en-IN" sz="600" dirty="0">
                          <a:solidFill>
                            <a:schemeClr val="tx1"/>
                          </a:solidFill>
                          <a:latin typeface="Century Gothic"/>
                          <a:ea typeface="+mn-ea"/>
                          <a:cs typeface="+mn-cs"/>
                        </a:rPr>
                        <a:t>Days 10–11</a:t>
                      </a:r>
                    </a:p>
                  </a:txBody>
                  <a:tcPr marL="45720" marR="45720" anchor="ctr"/>
                </a:tc>
                <a:tc>
                  <a:txBody>
                    <a:bodyPr/>
                    <a:lstStyle/>
                    <a:p>
                      <a:pPr>
                        <a:buNone/>
                      </a:pPr>
                      <a:r>
                        <a:rPr lang="en-IN" sz="600" dirty="0">
                          <a:solidFill>
                            <a:schemeClr val="tx1"/>
                          </a:solidFill>
                          <a:latin typeface="Century Gothic"/>
                          <a:ea typeface="+mn-ea"/>
                          <a:cs typeface="+mn-cs"/>
                        </a:rPr>
                        <a:t>Display alerts, evidence, validation status, and history</a:t>
                      </a:r>
                    </a:p>
                  </a:txBody>
                  <a:tcPr marL="45720" marR="45720" anchor="ctr"/>
                </a:tc>
                <a:tc>
                  <a:txBody>
                    <a:bodyPr/>
                    <a:lstStyle/>
                    <a:p>
                      <a:pPr>
                        <a:buNone/>
                      </a:pPr>
                      <a:r>
                        <a:rPr lang="en-IN" sz="600">
                          <a:solidFill>
                            <a:schemeClr val="tx1"/>
                          </a:solidFill>
                          <a:latin typeface="Century Gothic"/>
                          <a:ea typeface="+mn-ea"/>
                          <a:cs typeface="+mn-cs"/>
                        </a:rPr>
                        <a:t>Analyst interface</a:t>
                      </a:r>
                    </a:p>
                  </a:txBody>
                  <a:tcPr marL="45720" marR="45720" anchor="ctr"/>
                </a:tc>
                <a:extLst>
                  <a:ext uri="{0D108BD9-81ED-4DB2-BD59-A6C34878D82A}">
                    <a16:rowId xmlns:a16="http://schemas.microsoft.com/office/drawing/2014/main" val="1538097692"/>
                  </a:ext>
                </a:extLst>
              </a:tr>
              <a:tr h="137881">
                <a:tc>
                  <a:txBody>
                    <a:bodyPr/>
                    <a:lstStyle/>
                    <a:p>
                      <a:pPr>
                        <a:buNone/>
                      </a:pPr>
                      <a:r>
                        <a:rPr lang="en-IN" sz="600" b="1" dirty="0">
                          <a:solidFill>
                            <a:schemeClr val="tx1"/>
                          </a:solidFill>
                          <a:latin typeface="Century Gothic"/>
                          <a:ea typeface="+mn-ea"/>
                          <a:cs typeface="+mn-cs"/>
                        </a:rPr>
                        <a:t>6. Testing and evaluation</a:t>
                      </a:r>
                    </a:p>
                  </a:txBody>
                  <a:tcPr marL="45720" marR="45720" anchor="ctr"/>
                </a:tc>
                <a:tc>
                  <a:txBody>
                    <a:bodyPr/>
                    <a:lstStyle/>
                    <a:p>
                      <a:pPr>
                        <a:buNone/>
                      </a:pPr>
                      <a:r>
                        <a:rPr lang="en-IN" sz="600" dirty="0">
                          <a:solidFill>
                            <a:schemeClr val="tx1"/>
                          </a:solidFill>
                          <a:latin typeface="Century Gothic"/>
                          <a:ea typeface="+mn-ea"/>
                          <a:cs typeface="+mn-cs"/>
                        </a:rPr>
                        <a:t>Days 12–13</a:t>
                      </a:r>
                    </a:p>
                  </a:txBody>
                  <a:tcPr marL="45720" marR="45720" anchor="ctr"/>
                </a:tc>
                <a:tc>
                  <a:txBody>
                    <a:bodyPr/>
                    <a:lstStyle/>
                    <a:p>
                      <a:pPr>
                        <a:buNone/>
                      </a:pPr>
                      <a:r>
                        <a:rPr lang="en-IN" sz="600" dirty="0">
                          <a:solidFill>
                            <a:schemeClr val="tx1"/>
                          </a:solidFill>
                          <a:latin typeface="Century Gothic"/>
                          <a:ea typeface="+mn-ea"/>
                          <a:cs typeface="+mn-cs"/>
                        </a:rPr>
                        <a:t>Replay selected routing observations and test known scenarios</a:t>
                      </a:r>
                    </a:p>
                  </a:txBody>
                  <a:tcPr marL="45720" marR="45720" anchor="ctr"/>
                </a:tc>
                <a:tc>
                  <a:txBody>
                    <a:bodyPr/>
                    <a:lstStyle/>
                    <a:p>
                      <a:pPr>
                        <a:buNone/>
                      </a:pPr>
                      <a:r>
                        <a:rPr lang="en-IN" sz="600" dirty="0">
                          <a:solidFill>
                            <a:schemeClr val="tx1"/>
                          </a:solidFill>
                          <a:latin typeface="Century Gothic"/>
                          <a:ea typeface="+mn-ea"/>
                          <a:cs typeface="+mn-cs"/>
                        </a:rPr>
                        <a:t>Test report and identified limitations</a:t>
                      </a:r>
                    </a:p>
                  </a:txBody>
                  <a:tcPr marL="45720" marR="45720" anchor="ctr"/>
                </a:tc>
                <a:extLst>
                  <a:ext uri="{0D108BD9-81ED-4DB2-BD59-A6C34878D82A}">
                    <a16:rowId xmlns:a16="http://schemas.microsoft.com/office/drawing/2014/main" val="515374353"/>
                  </a:ext>
                </a:extLst>
              </a:tr>
              <a:tr h="137881">
                <a:tc>
                  <a:txBody>
                    <a:bodyPr/>
                    <a:lstStyle/>
                    <a:p>
                      <a:pPr>
                        <a:buNone/>
                      </a:pPr>
                      <a:r>
                        <a:rPr lang="en-IN" sz="600" b="1" dirty="0">
                          <a:solidFill>
                            <a:schemeClr val="tx1"/>
                          </a:solidFill>
                          <a:latin typeface="Century Gothic"/>
                          <a:ea typeface="+mn-ea"/>
                          <a:cs typeface="+mn-cs"/>
                        </a:rPr>
                        <a:t>7. Final integration</a:t>
                      </a:r>
                    </a:p>
                  </a:txBody>
                  <a:tcPr marL="45720" marR="45720" anchor="ctr"/>
                </a:tc>
                <a:tc>
                  <a:txBody>
                    <a:bodyPr/>
                    <a:lstStyle/>
                    <a:p>
                      <a:pPr>
                        <a:buNone/>
                      </a:pPr>
                      <a:r>
                        <a:rPr lang="en-IN" sz="600" dirty="0">
                          <a:solidFill>
                            <a:schemeClr val="tx1"/>
                          </a:solidFill>
                          <a:latin typeface="Century Gothic"/>
                          <a:ea typeface="+mn-ea"/>
                          <a:cs typeface="+mn-cs"/>
                        </a:rPr>
                        <a:t>Day 14</a:t>
                      </a:r>
                    </a:p>
                  </a:txBody>
                  <a:tcPr marL="45720" marR="45720" anchor="ctr"/>
                </a:tc>
                <a:tc>
                  <a:txBody>
                    <a:bodyPr/>
                    <a:lstStyle/>
                    <a:p>
                      <a:pPr>
                        <a:buNone/>
                      </a:pPr>
                      <a:r>
                        <a:rPr lang="en-IN" sz="600" dirty="0">
                          <a:solidFill>
                            <a:schemeClr val="tx1"/>
                          </a:solidFill>
                          <a:latin typeface="Century Gothic"/>
                          <a:ea typeface="+mn-ea"/>
                          <a:cs typeface="+mn-cs"/>
                        </a:rPr>
                        <a:t>Validate end-to-end workflow and prepare demonstration</a:t>
                      </a:r>
                    </a:p>
                  </a:txBody>
                  <a:tcPr marL="45720" marR="45720" anchor="ctr"/>
                </a:tc>
                <a:tc>
                  <a:txBody>
                    <a:bodyPr/>
                    <a:lstStyle/>
                    <a:p>
                      <a:pPr>
                        <a:buNone/>
                      </a:pPr>
                      <a:r>
                        <a:rPr lang="en-IN" sz="600" dirty="0">
                          <a:solidFill>
                            <a:schemeClr val="tx1"/>
                          </a:solidFill>
                          <a:latin typeface="Century Gothic"/>
                          <a:ea typeface="+mn-ea"/>
                          <a:cs typeface="+mn-cs"/>
                        </a:rPr>
                        <a:t>Integrated prototype and presentation</a:t>
                      </a:r>
                    </a:p>
                  </a:txBody>
                  <a:tcPr marL="45720" marR="45720" anchor="ctr"/>
                </a:tc>
                <a:extLst>
                  <a:ext uri="{0D108BD9-81ED-4DB2-BD59-A6C34878D82A}">
                    <a16:rowId xmlns:a16="http://schemas.microsoft.com/office/drawing/2014/main" val="2153393039"/>
                  </a:ext>
                </a:extLst>
              </a:tr>
            </a:tbl>
          </a:graphicData>
        </a:graphic>
      </p:graphicFrame>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2885" y="16997"/>
            <a:ext cx="50038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Bibliography</a:t>
            </a:r>
            <a:endParaRPr sz="600">
              <a:latin typeface="Century Gothic"/>
              <a:cs typeface="Century Gothic"/>
            </a:endParaRPr>
          </a:p>
        </p:txBody>
      </p:sp>
      <p:sp>
        <p:nvSpPr>
          <p:cNvPr id="3" name="object 3" descr="$PPTXTitle"/>
          <p:cNvSpPr txBox="1">
            <a:spLocks noGrp="1"/>
          </p:cNvSpPr>
          <p:nvPr>
            <p:ph type="title"/>
          </p:nvPr>
        </p:nvSpPr>
        <p:spPr>
          <a:xfrm>
            <a:off x="239293" y="198244"/>
            <a:ext cx="1115060" cy="232756"/>
          </a:xfrm>
          <a:prstGeom prst="rect">
            <a:avLst/>
          </a:prstGeom>
        </p:spPr>
        <p:txBody>
          <a:bodyPr vert="horz" wrap="square" lIns="0" tIns="17145" rIns="0" bIns="0" rtlCol="0">
            <a:spAutoFit/>
          </a:bodyPr>
          <a:lstStyle/>
          <a:p>
            <a:pPr marL="12700">
              <a:lnSpc>
                <a:spcPct val="100000"/>
              </a:lnSpc>
              <a:spcBef>
                <a:spcPts val="135"/>
              </a:spcBef>
            </a:pPr>
            <a:r>
              <a:rPr spc="-65" dirty="0"/>
              <a:t>Bibliograph</a:t>
            </a:r>
            <a:r>
              <a:rPr lang="en-IN" spc="-65" dirty="0"/>
              <a:t>y</a:t>
            </a:r>
            <a:endParaRPr spc="-50" dirty="0"/>
          </a:p>
        </p:txBody>
      </p:sp>
      <p:sp>
        <p:nvSpPr>
          <p:cNvPr id="4" name="object 4"/>
          <p:cNvSpPr txBox="1">
            <a:spLocks noGrp="1"/>
          </p:cNvSpPr>
          <p:nvPr>
            <p:ph type="body" idx="1"/>
          </p:nvPr>
        </p:nvSpPr>
        <p:spPr>
          <a:xfrm>
            <a:off x="239293" y="596822"/>
            <a:ext cx="5273675" cy="2053767"/>
          </a:xfrm>
          <a:prstGeom prst="rect">
            <a:avLst/>
          </a:prstGeom>
        </p:spPr>
        <p:txBody>
          <a:bodyPr vert="horz" wrap="square" lIns="0" tIns="6985" rIns="0" bIns="0" rtlCol="0">
            <a:spAutoFit/>
          </a:bodyPr>
          <a:lstStyle/>
          <a:p>
            <a:r>
              <a:rPr lang="en-IN" sz="700" dirty="0"/>
              <a:t>[1] BGP Prefix Origin Validation</a:t>
            </a:r>
          </a:p>
          <a:p>
            <a:r>
              <a:rPr lang="en-IN" sz="700" dirty="0"/>
              <a:t>P. Mohapatra, J. Scudder, D. Ward, R. Bush, and R. Austein, “BGP Prefix Origin Validation,” RFC 6811, Internet Engineering Task Force, January 2013.</a:t>
            </a:r>
          </a:p>
          <a:p>
            <a:r>
              <a:rPr lang="en-IN" sz="700" dirty="0">
                <a:hlinkClick r:id="rId3"/>
              </a:rPr>
              <a:t>https://www.rfc-editor.org/rfc/rfc6811.html</a:t>
            </a:r>
            <a:endParaRPr lang="en-IN" sz="700" dirty="0"/>
          </a:p>
          <a:p>
            <a:endParaRPr lang="en-IN" sz="700" dirty="0"/>
          </a:p>
          <a:p>
            <a:r>
              <a:rPr lang="en-IN" sz="700" dirty="0"/>
              <a:t>[2] A Profile for Route Origin Authorizations (ROAs)</a:t>
            </a:r>
          </a:p>
          <a:p>
            <a:r>
              <a:rPr lang="en-IN" sz="700" dirty="0"/>
              <a:t>J. Snijders, B. Maddison, and M. Lepinski, “A Profile for Route Origin Authorizations (ROAs),” RFC 9582, Internet Engineering Task Force, May 2024.</a:t>
            </a:r>
          </a:p>
          <a:p>
            <a:r>
              <a:rPr lang="en-IN" sz="700" dirty="0">
                <a:hlinkClick r:id="rId4"/>
              </a:rPr>
              <a:t>https://www.rfc-editor.org/rfc/rfc9582.html</a:t>
            </a:r>
            <a:endParaRPr lang="en-IN" sz="700" dirty="0"/>
          </a:p>
          <a:p>
            <a:endParaRPr lang="en-IN" sz="700" dirty="0"/>
          </a:p>
          <a:p>
            <a:r>
              <a:rPr lang="en-IN" sz="700" dirty="0"/>
              <a:t>[3] ARTEMIS: Neutralizing BGP Hijacking Within a Minute</a:t>
            </a:r>
          </a:p>
          <a:p>
            <a:r>
              <a:rPr lang="en-IN" sz="700" dirty="0"/>
              <a:t>P. </a:t>
            </a:r>
            <a:r>
              <a:rPr lang="en-IN" sz="700" dirty="0" err="1"/>
              <a:t>Sermpezis</a:t>
            </a:r>
            <a:r>
              <a:rPr lang="en-IN" sz="700" dirty="0"/>
              <a:t>, V. Kotronis, P. </a:t>
            </a:r>
            <a:r>
              <a:rPr lang="en-IN" sz="700" dirty="0" err="1"/>
              <a:t>Gigis</a:t>
            </a:r>
            <a:r>
              <a:rPr lang="en-IN" sz="700" dirty="0"/>
              <a:t>, X. Dimitropoulos, D. Cicalese, A. King, and A. </a:t>
            </a:r>
            <a:r>
              <a:rPr lang="en-IN" sz="700" dirty="0" err="1"/>
              <a:t>Dainotti</a:t>
            </a:r>
            <a:r>
              <a:rPr lang="en-IN" sz="700" dirty="0"/>
              <a:t>, “ARTEMIS: Neutralizing BGP Hijacking Within a Minute,” IEEE/ACM Transactions on Networking, vol. 26, no. 6, pp. 2471–2486, December 2018.</a:t>
            </a:r>
          </a:p>
          <a:p>
            <a:r>
              <a:rPr lang="en-IN" sz="700" dirty="0">
                <a:hlinkClick r:id="rId5"/>
              </a:rPr>
              <a:t>https://doi.org/10.1109/TNET.2018.2869798</a:t>
            </a:r>
            <a:r>
              <a:rPr lang="en-IN" sz="700" dirty="0"/>
              <a:t> </a:t>
            </a:r>
          </a:p>
          <a:p>
            <a:endParaRPr lang="en-IN" sz="700" dirty="0"/>
          </a:p>
          <a:p>
            <a:r>
              <a:rPr lang="en-IN" sz="700" dirty="0"/>
              <a:t>[4] </a:t>
            </a:r>
            <a:r>
              <a:rPr lang="en-IN" sz="700" dirty="0" err="1"/>
              <a:t>BGPStream</a:t>
            </a:r>
            <a:r>
              <a:rPr lang="en-IN" sz="700" dirty="0"/>
              <a:t>: A Software Framework for Live and Historical BGP Data Analysis</a:t>
            </a:r>
          </a:p>
          <a:p>
            <a:r>
              <a:rPr lang="en-IN" sz="700" dirty="0"/>
              <a:t>C. Orsini, A. King, D. Giordano, V. </a:t>
            </a:r>
            <a:r>
              <a:rPr lang="en-IN" sz="700" dirty="0" err="1"/>
              <a:t>Giotsas</a:t>
            </a:r>
            <a:r>
              <a:rPr lang="en-IN" sz="700" dirty="0"/>
              <a:t>, and A. </a:t>
            </a:r>
            <a:r>
              <a:rPr lang="en-IN" sz="700" dirty="0" err="1"/>
              <a:t>Dainotti</a:t>
            </a:r>
            <a:r>
              <a:rPr lang="en-IN" sz="700" dirty="0"/>
              <a:t>, “</a:t>
            </a:r>
            <a:r>
              <a:rPr lang="en-IN" sz="700" dirty="0" err="1"/>
              <a:t>BGPStream</a:t>
            </a:r>
            <a:r>
              <a:rPr lang="en-IN" sz="700" dirty="0"/>
              <a:t>: A Software Framework for Live and Historical BGP Data Analysis,” in Proceedings of the 2016 ACM Internet Measurement Conference (IMC), pp. 429–444, November 2016.</a:t>
            </a:r>
          </a:p>
          <a:p>
            <a:r>
              <a:rPr lang="en-IN" sz="700" dirty="0">
                <a:hlinkClick r:id="rId6"/>
              </a:rPr>
              <a:t>https://doi.org/10.1145/2987443.2987482</a:t>
            </a:r>
            <a:r>
              <a:rPr lang="en-IN" sz="700" dirty="0"/>
              <a:t> </a:t>
            </a:r>
          </a:p>
        </p:txBody>
      </p:sp>
      <p:sp>
        <p:nvSpPr>
          <p:cNvPr id="6" name="object 6"/>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10</a:t>
            </a:fld>
            <a:r>
              <a:rPr spc="5" dirty="0"/>
              <a:t> </a:t>
            </a:r>
            <a:r>
              <a:rPr dirty="0"/>
              <a:t>/</a:t>
            </a:r>
            <a:r>
              <a:rPr spc="10" dirty="0"/>
              <a:t> </a:t>
            </a:r>
            <a:r>
              <a:rPr spc="-25" dirty="0"/>
              <a:t>11</a:t>
            </a:r>
          </a:p>
        </p:txBody>
      </p:sp>
      <p:sp>
        <p:nvSpPr>
          <p:cNvPr id="8" name="object 6">
            <a:extLst>
              <a:ext uri="{FF2B5EF4-FFF2-40B4-BE49-F238E27FC236}">
                <a16:creationId xmlns:a16="http://schemas.microsoft.com/office/drawing/2014/main" id="{3725654A-3959-673A-D85F-8228B1180863}"/>
              </a:ext>
            </a:extLst>
          </p:cNvPr>
          <p:cNvSpPr txBox="1"/>
          <p:nvPr/>
        </p:nvSpPr>
        <p:spPr>
          <a:xfrm>
            <a:off x="239293" y="3050083"/>
            <a:ext cx="20340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Century Gothic"/>
              </a:rPr>
              <a:t>M</a:t>
            </a:r>
            <a:r>
              <a:rPr sz="600" spc="-60" dirty="0">
                <a:solidFill>
                  <a:srgbClr val="0000DC"/>
                </a:solidFill>
                <a:latin typeface="Century Gothic"/>
                <a:cs typeface="Century Gothic"/>
              </a:rPr>
              <a:t>.</a:t>
            </a:r>
            <a:r>
              <a:rPr sz="600" spc="10" dirty="0">
                <a:solidFill>
                  <a:srgbClr val="0000DC"/>
                </a:solidFill>
                <a:latin typeface="Century Gothic"/>
                <a:cs typeface="Century Gothic"/>
              </a:rPr>
              <a:t> </a:t>
            </a:r>
            <a:r>
              <a:rPr lang="en-IN" sz="600" spc="-20" dirty="0">
                <a:solidFill>
                  <a:srgbClr val="0000DC"/>
                </a:solidFill>
                <a:latin typeface="Century Gothic"/>
                <a:cs typeface="Century Gothic"/>
              </a:rPr>
              <a:t>Gupta et. al.</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7" action="ppaction://hlinksldjump"/>
              </a:rPr>
              <a:t>A3-</a:t>
            </a:r>
            <a:r>
              <a:rPr lang="en-IN" sz="600" b="1" dirty="0">
                <a:solidFill>
                  <a:srgbClr val="0000DC"/>
                </a:solidFill>
                <a:latin typeface="Century Gothic"/>
                <a:cs typeface="Century Gothic"/>
                <a:hlinkClick r:id="rId7" action="ppaction://hlinksldjump"/>
              </a:rPr>
              <a:t>PS005-TC512</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lang="en-IN" sz="600" spc="10" dirty="0">
                <a:solidFill>
                  <a:srgbClr val="0000DC"/>
                </a:solidFill>
                <a:latin typeface="Century Gothic"/>
                <a:cs typeface="Century Gothic"/>
              </a:rPr>
              <a:t>14</a:t>
            </a:r>
            <a:r>
              <a:rPr sz="600" dirty="0">
                <a:solidFill>
                  <a:srgbClr val="0000DC"/>
                </a:solidFill>
                <a:latin typeface="Century Gothic"/>
                <a:cs typeface="Century Gothic"/>
              </a:rPr>
              <a:t>,</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94535" y="1088871"/>
            <a:ext cx="1771014" cy="191770"/>
          </a:xfrm>
          <a:prstGeom prst="rect">
            <a:avLst/>
          </a:prstGeom>
        </p:spPr>
        <p:txBody>
          <a:bodyPr vert="horz" wrap="square" lIns="0" tIns="11430" rIns="0" bIns="0" rtlCol="0">
            <a:spAutoFit/>
          </a:bodyPr>
          <a:lstStyle/>
          <a:p>
            <a:pPr marL="12700">
              <a:lnSpc>
                <a:spcPct val="100000"/>
              </a:lnSpc>
              <a:spcBef>
                <a:spcPts val="90"/>
              </a:spcBef>
            </a:pPr>
            <a:r>
              <a:rPr sz="1100" spc="-60" dirty="0">
                <a:latin typeface="Century Gothic"/>
                <a:cs typeface="Century Gothic"/>
              </a:rPr>
              <a:t>Thank</a:t>
            </a:r>
            <a:r>
              <a:rPr sz="1100" dirty="0">
                <a:latin typeface="Century Gothic"/>
                <a:cs typeface="Century Gothic"/>
              </a:rPr>
              <a:t> </a:t>
            </a:r>
            <a:r>
              <a:rPr sz="1100" spc="-130" dirty="0">
                <a:latin typeface="Century Gothic"/>
                <a:cs typeface="Century Gothic"/>
              </a:rPr>
              <a:t>You</a:t>
            </a:r>
            <a:r>
              <a:rPr sz="1100" dirty="0">
                <a:latin typeface="Century Gothic"/>
                <a:cs typeface="Century Gothic"/>
              </a:rPr>
              <a:t> </a:t>
            </a:r>
            <a:r>
              <a:rPr sz="1100" spc="-35" dirty="0">
                <a:latin typeface="Century Gothic"/>
                <a:cs typeface="Century Gothic"/>
              </a:rPr>
              <a:t>for</a:t>
            </a:r>
            <a:r>
              <a:rPr sz="1100" spc="5" dirty="0">
                <a:latin typeface="Century Gothic"/>
                <a:cs typeface="Century Gothic"/>
              </a:rPr>
              <a:t> </a:t>
            </a:r>
            <a:r>
              <a:rPr sz="1100" spc="-85" dirty="0">
                <a:latin typeface="Century Gothic"/>
                <a:cs typeface="Century Gothic"/>
              </a:rPr>
              <a:t>Your</a:t>
            </a:r>
            <a:r>
              <a:rPr sz="1100" dirty="0">
                <a:latin typeface="Century Gothic"/>
                <a:cs typeface="Century Gothic"/>
              </a:rPr>
              <a:t> </a:t>
            </a:r>
            <a:r>
              <a:rPr sz="1100" spc="-55" dirty="0">
                <a:latin typeface="Century Gothic"/>
                <a:cs typeface="Century Gothic"/>
              </a:rPr>
              <a:t>Attention!</a:t>
            </a:r>
            <a:endParaRPr sz="1100">
              <a:latin typeface="Century Gothic"/>
              <a:cs typeface="Century Gothic"/>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TotalTime>
  <Words>1619</Words>
  <Application>Microsoft Office PowerPoint</Application>
  <PresentationFormat>Custom</PresentationFormat>
  <Paragraphs>194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Narrow</vt:lpstr>
      <vt:lpstr>Century Gothic</vt:lpstr>
      <vt:lpstr>Office Theme</vt:lpstr>
      <vt:lpstr>A3-PS005-TC512 Explainable BGP Origin and Subprefix Anomaly</vt:lpstr>
      <vt:lpstr>PowerPoint Presentation</vt:lpstr>
      <vt:lpstr>PowerPoint Presentation</vt:lpstr>
      <vt:lpstr>PowerPoint Presentation</vt:lpstr>
      <vt:lpstr>PowerPoint Presentation</vt:lpstr>
      <vt:lpstr>PowerPoint Presentation</vt:lpstr>
      <vt:lpstr>PowerPoint Presentation</vt:lpstr>
      <vt:lpstr>Data Flow Diagram</vt:lpstr>
      <vt:lpstr>PowerPoint Presentation</vt:lpstr>
      <vt:lpstr>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A3-PS001-TC001 - Android Ransomware-like Activity Early Warning in a Controlled Lab</dc:title>
  <dc:subject>Presentation Subject</dc:subject>
  <dc:creator>John Doe, personal-id@some.mail.com</dc:creator>
  <cp:keywords>the, presentation, keywords</cp:keywords>
  <cp:lastModifiedBy>JYOTIRANJAN MOHARANA</cp:lastModifiedBy>
  <cp:revision>3</cp:revision>
  <dcterms:created xsi:type="dcterms:W3CDTF">2026-10-14T17:58:50Z</dcterms:created>
  <dcterms:modified xsi:type="dcterms:W3CDTF">2026-10-14T18:38:02Z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2026-10-05T00:00:00Z</vt:filetime>
  </property>
  <property fmtid="{D5CDD505-2E9C-101B-9397-08002B2CF9AE}" pid="4" name="Creator">
    <vt:lpwstr>LaTeX with Beamer class</vt:lpwstr>
  </property>
  <property fmtid="{D5CDD505-2E9C-101B-9397-08002B2CF9AE}" pid="5" name="LastSaved">
    <vt:filetime>2026-10-14T00:00:00Z</vt:filetime>
  </property>
  <property fmtid="{D5CDD505-2E9C-101B-9397-08002B2CF9AE}" pid="6" name="PTEX.Fullbanner">
    <vt:lpwstr>This is pdfTeX, Version 3.141592653-2.6-1.40.29 (TeX Live 2026) kpathsea version 6.4.2</vt:lpwstr>
  </property>
  <property fmtid="{D5CDD505-2E9C-101B-9397-08002B2CF9AE}" pid="7" name="Producer">
    <vt:lpwstr>pdfTeX-1.40.29</vt:lpwstr>
  </property>
</Properties>
</file>